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53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25545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分で報告します。今回お伝えしたいのは、自分が『通信・認証・ログを横断してログ根拠で切り分けできる人』であることです。前半は実装・検証済のオンプレ相当Docker環境、後半は補足としてAWS移行計画。実装済・検証済・設計済（未実装）を厳密に分けて話しま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の地図です。前半が実装・検証済のオンプレ相当Docker環境で、3段Proxy・認証・DNS・PAC・暗号化・検査・ログを一通り束ねていて、約25分で検証可能な状態まで戻せる。後半は補足としてAWS移行計画で、責務分離をマネージドへ写像する設計はあるが実機構築は未実施。誇張せず分けて報告し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作ったかです。実務で障害解析するとベンダー回答に依存しやすく、設計意図や原因を自分の言葉で説明しづらい場面があった。だから入口から出口まで自分で構築し、通信・認証・暗号化・ログを横断してログ根拠で説明できる状態を作るのが目標でした。これが障害時に設計判断の理由をログで説明できる、という能力につながってい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オンプレ相当の構成図です。WSL2 + Docker Compose の1台に、Client→3段Proxy→Internet の流れを通し、Samba AD/DC・dnsmasq・stunnel・ICAP+ClamAV が横で支え、Loki・Graylog・OpenSearch・Zabbix がログと監視を担う。全体をDocker Composeで稼働確認できていて、これが今日の主役です。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段Proxyの責務分離とSSLBumpの話です。SSLBumpは1通信で1回しか復号できない仕様で、当初Proxy1とProxy2の両方で復号して破綻させた。失敗ログから仕様制約を理解し、復号点はProxy1のみに集約、中継暗号化はstunnelに分離する形に切り直した。これでログの整合と運用の単純さが両立しました。失敗から学んで設計判断したという経験そのものをここでお伝えしたいで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認証とPAC分岐です。Samba AD/DCを認証の正本にKerberos認証を組みました。ハマったのはDNS逆引きとSPNの整合崩れで、これが一致しないと407が止まり認証が成立しない。AD/DC側のDNSとSPNを揃えて解消しました。PAC分岐は、直行経路と Proxy 経由でログ出方が違う点を、WPAD配布とClient側キャッシュで切り分けて確認しています。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ログによる切り分けです。access.logを結果、cache.logを原因と見る順で3パターンを言い当てます。407がProxy1のみなら入口で認証が成立していない、403がProxy2のみなら直行経路のACL、cache.logにICAPエラーがあれば検査で遮断。この『ある／ない』で切り分けるフローを実装しました。</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再現性と自動化です。『約25分で再構築』の中身を厳密に言うと、3段Proxy・認証・DNS・PAC・暗号化、Loki・Graylog・OpenSearchのログ可視化、Zabbixの監視、そして通信制御とログによる検証可能な状態までを含めて約25分で戻せる、ということです。STEP0〜17のBashで段階実行、Guardで前提失敗即停止、Retryで揺らぎ吸収、所要時間を必ず出力。再現性を数字で確認していま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AWS移行計画は補足です。OSSで作った責務分離をそのままAWSマネージドへ写像する設計で、3段ProxyはALB + Auto Scaling、認証はAD Connectorでオンプレ正本参照、ログはCW Logs→Firehose→S3、運用はSSM Session Manager、到達経路はClient VPNのみ。Phase 1で最小PoC、Phase 2でB案標準、Phase 3で監査・拡張、と段階導入で過剰構成を避けます。AWS実機は未構築です。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まとめです。ログ根拠で切り分けでき、再現性を数字で示せる人間であること、そして同じ責務分離はAWSにも写像できる、これが今日お伝えしたかった姿勢です。次の一手はPhase 1をTerraformで自分で構築し実機検証することで、実装済・検証済・設計済（未実装）を分けて誠実に報告する、これを姿勢として持ち続けます。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E1116"/>
          </a:solidFill>
          <a:ln/>
        </p:spPr>
      </p:sp>
      <p:sp>
        <p:nvSpPr>
          <p:cNvPr id="3" name="Shape 1"/>
          <p:cNvSpPr/>
          <p:nvPr/>
        </p:nvSpPr>
        <p:spPr>
          <a:xfrm>
            <a:off x="0" y="0"/>
            <a:ext cx="133350" cy="10287000"/>
          </a:xfrm>
          <a:prstGeom prst="rect">
            <a:avLst/>
          </a:prstGeom>
          <a:solidFill>
            <a:srgbClr val="C8401F"/>
          </a:solidFill>
          <a:ln/>
        </p:spPr>
      </p:sp>
      <p:sp>
        <p:nvSpPr>
          <p:cNvPr id="4" name="Text 2"/>
          <p:cNvSpPr/>
          <p:nvPr/>
        </p:nvSpPr>
        <p:spPr>
          <a:xfrm>
            <a:off x="952500" y="952500"/>
            <a:ext cx="16874490" cy="390525"/>
          </a:xfrm>
          <a:prstGeom prst="rect">
            <a:avLst/>
          </a:prstGeom>
          <a:noFill/>
          <a:ln/>
        </p:spPr>
        <p:txBody>
          <a:bodyPr wrap="square" lIns="25400" tIns="25400" rIns="25400" bIns="25400" rtlCol="0" anchor="t">
            <a:normAutofit/>
          </a:bodyPr>
          <a:lstStyle/>
          <a:p>
            <a:pPr marL="0" indent="0" algn="l">
              <a:buNone/>
            </a:pPr>
            <a:r>
              <a:rPr lang="en-US" sz="1950" kern="0" spc="429" dirty="0">
                <a:solidFill>
                  <a:srgbClr val="D9CDB6"/>
                </a:solidFill>
                <a:latin typeface="Inter" pitchFamily="34" charset="0"/>
                <a:ea typeface="Inter" pitchFamily="34" charset="-122"/>
                <a:cs typeface="Inter" pitchFamily="34" charset="-120"/>
              </a:rPr>
              <a:t>PORTFOLIO · 10 MIN 詳細版</a:t>
            </a:r>
            <a:endParaRPr lang="en-US" sz="1950" dirty="0"/>
          </a:p>
        </p:txBody>
      </p:sp>
      <p:sp>
        <p:nvSpPr>
          <p:cNvPr id="5" name="Text 3"/>
          <p:cNvSpPr/>
          <p:nvPr/>
        </p:nvSpPr>
        <p:spPr>
          <a:xfrm>
            <a:off x="952500" y="1781175"/>
            <a:ext cx="16874490" cy="561975"/>
          </a:xfrm>
          <a:prstGeom prst="rect">
            <a:avLst/>
          </a:prstGeom>
          <a:noFill/>
          <a:ln/>
        </p:spPr>
        <p:txBody>
          <a:bodyPr wrap="square" lIns="25400" tIns="25400" rIns="25400" bIns="25400" rtlCol="0" anchor="t">
            <a:normAutofit/>
          </a:bodyPr>
          <a:lstStyle/>
          <a:p>
            <a:pPr marL="0" indent="0" algn="l">
              <a:buNone/>
            </a:pPr>
            <a:r>
              <a:rPr lang="en-US" sz="2850" dirty="0">
                <a:solidFill>
                  <a:srgbClr val="C8401F"/>
                </a:solidFill>
                <a:latin typeface="Noto Serif JP" pitchFamily="34" charset="0"/>
                <a:ea typeface="Noto Serif JP" pitchFamily="34" charset="-122"/>
                <a:cs typeface="Noto Serif JP" pitchFamily="34" charset="-120"/>
              </a:rPr>
              <a:t>通信・認証・ログを横断して、ログ根拠で切り分けできる人になる。</a:t>
            </a:r>
            <a:endParaRPr lang="en-US" sz="2850" dirty="0"/>
          </a:p>
        </p:txBody>
      </p:sp>
      <p:sp>
        <p:nvSpPr>
          <p:cNvPr id="6" name="Text 4"/>
          <p:cNvSpPr/>
          <p:nvPr/>
        </p:nvSpPr>
        <p:spPr>
          <a:xfrm>
            <a:off x="952500" y="2514600"/>
            <a:ext cx="16874490" cy="1702296"/>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5850" b="1" dirty="0">
                <a:solidFill>
                  <a:srgbClr val="FFFFFF"/>
                </a:solidFill>
                <a:latin typeface="Noto Serif JP" pitchFamily="34" charset="0"/>
                <a:ea typeface="Noto Serif JP" pitchFamily="34" charset="-122"/>
                <a:cs typeface="Noto Serif JP" pitchFamily="34" charset="-120"/>
              </a:rPr>
              <a:t>多段Proxy・認証・ログ基盤を </a:t>
            </a:r>
            <a:r>
              <a:rPr lang="en-US" sz="5850" b="1" dirty="0">
                <a:solidFill>
                  <a:srgbClr val="C8401F"/>
                </a:solidFill>
                <a:latin typeface="Noto Serif JP" pitchFamily="34" charset="0"/>
                <a:ea typeface="Noto Serif JP" pitchFamily="34" charset="-122"/>
                <a:cs typeface="Noto Serif JP" pitchFamily="34" charset="-120"/>
              </a:rPr>
              <a:t>OSSで自分の手で組み直した</a:t>
            </a:r>
            <a:endParaRPr lang="en-US" sz="5850" dirty="0"/>
          </a:p>
        </p:txBody>
      </p:sp>
      <p:sp>
        <p:nvSpPr>
          <p:cNvPr id="7" name="Text 5"/>
          <p:cNvSpPr/>
          <p:nvPr/>
        </p:nvSpPr>
        <p:spPr>
          <a:xfrm>
            <a:off x="952500" y="4445496"/>
            <a:ext cx="14716125" cy="481012"/>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2250" dirty="0">
                <a:solidFill>
                  <a:srgbClr val="C9C2B2"/>
                </a:solidFill>
                <a:latin typeface="Inter" pitchFamily="34" charset="0"/>
                <a:ea typeface="Inter" pitchFamily="34" charset="-122"/>
                <a:cs typeface="Inter" pitchFamily="34" charset="-120"/>
              </a:rPr>
              <a:t>前半：オンプレ相当検証環境（実装・検証済） ／ 後半：AWS移行設計案（設計のみ・実装未実施）</a:t>
            </a:r>
            <a:endParaRPr lang="en-US" sz="2250" dirty="0"/>
          </a:p>
        </p:txBody>
      </p:sp>
      <p:sp>
        <p:nvSpPr>
          <p:cNvPr id="8" name="Shape 6"/>
          <p:cNvSpPr/>
          <p:nvPr/>
        </p:nvSpPr>
        <p:spPr>
          <a:xfrm>
            <a:off x="952500" y="8534400"/>
            <a:ext cx="16383000" cy="9525"/>
          </a:xfrm>
          <a:prstGeom prst="rect">
            <a:avLst/>
          </a:prstGeom>
          <a:solidFill>
            <a:srgbClr val="2A2D33"/>
          </a:solidFill>
          <a:ln/>
        </p:spPr>
      </p:sp>
      <p:sp>
        <p:nvSpPr>
          <p:cNvPr id="9" name="Text 7"/>
          <p:cNvSpPr/>
          <p:nvPr/>
        </p:nvSpPr>
        <p:spPr>
          <a:xfrm>
            <a:off x="952500" y="8829675"/>
            <a:ext cx="5416760"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F2EEE3"/>
                </a:solidFill>
                <a:latin typeface="Inter" pitchFamily="34" charset="0"/>
                <a:ea typeface="Inter" pitchFamily="34" charset="-122"/>
                <a:cs typeface="Inter" pitchFamily="34" charset="-120"/>
              </a:rPr>
              <a:t>gan2</a:t>
            </a:r>
            <a:endParaRPr lang="en-US" sz="2250" dirty="0"/>
          </a:p>
        </p:txBody>
      </p:sp>
      <p:sp>
        <p:nvSpPr>
          <p:cNvPr id="10" name="Text 8"/>
          <p:cNvSpPr/>
          <p:nvPr/>
        </p:nvSpPr>
        <p:spPr>
          <a:xfrm>
            <a:off x="952500" y="9229725"/>
            <a:ext cx="5416760" cy="333375"/>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A8A08C"/>
                </a:solidFill>
                <a:latin typeface="Inter" pitchFamily="34" charset="0"/>
                <a:ea typeface="Inter" pitchFamily="34" charset="-122"/>
                <a:cs typeface="Inter" pitchFamily="34" charset="-120"/>
              </a:rPr>
              <a:t>multiproxy-oss-portfolio · code-of-life-public</a:t>
            </a:r>
            <a:endParaRPr lang="en-US" sz="1950" dirty="0"/>
          </a:p>
        </p:txBody>
      </p:sp>
      <p:sp>
        <p:nvSpPr>
          <p:cNvPr id="11" name="Text 9"/>
          <p:cNvSpPr/>
          <p:nvPr/>
        </p:nvSpPr>
        <p:spPr>
          <a:xfrm>
            <a:off x="16287452" y="9229725"/>
            <a:ext cx="1048048" cy="333375"/>
          </a:xfrm>
          <a:prstGeom prst="rect">
            <a:avLst/>
          </a:prstGeom>
          <a:noFill/>
          <a:ln/>
        </p:spPr>
        <p:txBody>
          <a:bodyPr wrap="square" lIns="25400" tIns="25400" rIns="25400" bIns="25400" rtlCol="0" anchor="t">
            <a:normAutofit lnSpcReduction="10000"/>
          </a:bodyPr>
          <a:lstStyle/>
          <a:p>
            <a:pPr marL="0" indent="0" algn="r">
              <a:buNone/>
            </a:pPr>
            <a:r>
              <a:rPr lang="en-US" sz="1950" dirty="0">
                <a:solidFill>
                  <a:srgbClr val="A8A08C"/>
                </a:solidFill>
                <a:latin typeface="Inter" pitchFamily="34" charset="0"/>
                <a:ea typeface="Inter" pitchFamily="34" charset="-122"/>
                <a:cs typeface="Inter" pitchFamily="34" charset="-120"/>
              </a:rPr>
              <a:t>2026.05</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116"/>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4EE"/>
          </a:solidFill>
          <a:ln/>
        </p:spPr>
      </p:sp>
      <p:sp>
        <p:nvSpPr>
          <p:cNvPr id="3" name="Shape 1"/>
          <p:cNvSpPr/>
          <p:nvPr/>
        </p:nvSpPr>
        <p:spPr>
          <a:xfrm>
            <a:off x="952500" y="1076325"/>
            <a:ext cx="476250" cy="19050"/>
          </a:xfrm>
          <a:prstGeom prst="rect">
            <a:avLst/>
          </a:prstGeom>
          <a:solidFill>
            <a:srgbClr val="C8401F"/>
          </a:solidFill>
          <a:ln/>
        </p:spPr>
      </p:sp>
      <p:sp>
        <p:nvSpPr>
          <p:cNvPr id="4" name="Text 2"/>
          <p:cNvSpPr/>
          <p:nvPr/>
        </p:nvSpPr>
        <p:spPr>
          <a:xfrm>
            <a:off x="914400" y="742950"/>
            <a:ext cx="552450" cy="333375"/>
          </a:xfrm>
          <a:prstGeom prst="rect">
            <a:avLst/>
          </a:prstGeom>
          <a:noFill/>
          <a:ln/>
        </p:spPr>
        <p:txBody>
          <a:bodyPr wrap="square" lIns="25400" tIns="25400" rIns="25400" bIns="25400" rtlCol="0" anchor="t">
            <a:normAutofit lnSpcReduction="10000"/>
          </a:bodyPr>
          <a:lstStyle/>
          <a:p>
            <a:pPr marL="0" indent="0" algn="ctr">
              <a:buNone/>
            </a:pPr>
            <a:r>
              <a:rPr lang="en-US" sz="1950" b="1" kern="0" spc="351" dirty="0">
                <a:solidFill>
                  <a:srgbClr val="C8401F"/>
                </a:solidFill>
                <a:latin typeface="Inter" pitchFamily="34" charset="0"/>
                <a:ea typeface="Inter" pitchFamily="34" charset="-122"/>
                <a:cs typeface="Inter" pitchFamily="34" charset="-120"/>
              </a:rPr>
              <a:t>01</a:t>
            </a:r>
            <a:endParaRPr lang="en-US" sz="1950" dirty="0"/>
          </a:p>
        </p:txBody>
      </p:sp>
      <p:sp>
        <p:nvSpPr>
          <p:cNvPr id="5" name="Text 3"/>
          <p:cNvSpPr/>
          <p:nvPr/>
        </p:nvSpPr>
        <p:spPr>
          <a:xfrm>
            <a:off x="1562100" y="742950"/>
            <a:ext cx="3670907" cy="390525"/>
          </a:xfrm>
          <a:prstGeom prst="rect">
            <a:avLst/>
          </a:prstGeom>
          <a:noFill/>
          <a:ln/>
        </p:spPr>
        <p:txBody>
          <a:bodyPr wrap="square" lIns="25400" tIns="25400" rIns="25400" bIns="25400" rtlCol="0" anchor="t">
            <a:normAutofit/>
          </a:bodyPr>
          <a:lstStyle/>
          <a:p>
            <a:pPr marL="0" indent="0" algn="l">
              <a:buNone/>
            </a:pPr>
            <a:r>
              <a:rPr lang="en-US" sz="1950" b="1" kern="0" spc="312" dirty="0">
                <a:solidFill>
                  <a:srgbClr val="C8401F"/>
                </a:solidFill>
                <a:latin typeface="Inter" pitchFamily="34" charset="0"/>
                <a:ea typeface="Inter" pitchFamily="34" charset="-122"/>
                <a:cs typeface="Inter" pitchFamily="34" charset="-120"/>
              </a:rPr>
              <a:t>OVERVIEW — 状態の地図</a:t>
            </a:r>
            <a:endParaRPr lang="en-US" sz="1950" dirty="0"/>
          </a:p>
        </p:txBody>
      </p:sp>
      <p:sp>
        <p:nvSpPr>
          <p:cNvPr id="6" name="Text 4"/>
          <p:cNvSpPr/>
          <p:nvPr/>
        </p:nvSpPr>
        <p:spPr>
          <a:xfrm>
            <a:off x="952500" y="1304925"/>
            <a:ext cx="16874490" cy="1339453"/>
          </a:xfrm>
          <a:prstGeom prst="rect">
            <a:avLst/>
          </a:prstGeom>
          <a:noFill/>
          <a:ln/>
        </p:spPr>
        <p:txBody>
          <a:bodyPr wrap="square" lIns="25400" tIns="25400" rIns="25400" bIns="25400" rtlCol="0" anchor="t">
            <a:normAutofit fontScale="92500" lnSpcReduction="20000"/>
          </a:bodyPr>
          <a:lstStyle/>
          <a:p>
            <a:pPr marL="0" indent="0" algn="l">
              <a:lnSpc>
                <a:spcPct val="122000"/>
              </a:lnSpc>
              <a:buNone/>
            </a:pPr>
            <a:r>
              <a:rPr lang="en-US" sz="4200" b="1" dirty="0">
                <a:solidFill>
                  <a:srgbClr val="0E1116"/>
                </a:solidFill>
                <a:latin typeface="Noto Serif JP" pitchFamily="34" charset="0"/>
                <a:ea typeface="Noto Serif JP" pitchFamily="34" charset="-122"/>
                <a:cs typeface="Noto Serif JP" pitchFamily="34" charset="-120"/>
              </a:rPr>
              <a:t>10分詳細版として、実装・検証済みと、設計のみ・実装未実施を分けて報告。</a:t>
            </a:r>
            <a:endParaRPr lang="en-US" sz="4200" dirty="0"/>
          </a:p>
        </p:txBody>
      </p:sp>
      <p:sp>
        <p:nvSpPr>
          <p:cNvPr id="7" name="Shape 5"/>
          <p:cNvSpPr/>
          <p:nvPr/>
        </p:nvSpPr>
        <p:spPr>
          <a:xfrm>
            <a:off x="952500" y="2772966"/>
            <a:ext cx="209550" cy="209550"/>
          </a:xfrm>
          <a:prstGeom prst="ellipse">
            <a:avLst/>
          </a:prstGeom>
          <a:solidFill>
            <a:srgbClr val="1F4E79"/>
          </a:solidFill>
          <a:ln/>
        </p:spPr>
      </p:sp>
      <p:sp>
        <p:nvSpPr>
          <p:cNvPr id="8" name="Text 6"/>
          <p:cNvSpPr/>
          <p:nvPr/>
        </p:nvSpPr>
        <p:spPr>
          <a:xfrm>
            <a:off x="914400" y="2772966"/>
            <a:ext cx="285750" cy="247650"/>
          </a:xfrm>
          <a:prstGeom prst="rect">
            <a:avLst/>
          </a:prstGeom>
          <a:noFill/>
          <a:ln/>
        </p:spPr>
        <p:txBody>
          <a:bodyPr wrap="square" lIns="25400" tIns="25400" rIns="25400" bIns="25400" rtlCol="0" anchor="t">
            <a:normAutofit fontScale="92500" lnSpcReduction="20000"/>
          </a:bodyPr>
          <a:lstStyle/>
          <a:p>
            <a:pPr marL="0" indent="0" algn="ctr">
              <a:lnSpc>
                <a:spcPct val="157143"/>
              </a:lnSpc>
              <a:buNone/>
            </a:pPr>
            <a:r>
              <a:rPr lang="en-US" sz="1050" b="1" dirty="0">
                <a:solidFill>
                  <a:srgbClr val="FFFFFF"/>
                </a:solidFill>
                <a:latin typeface="Inter" pitchFamily="34" charset="0"/>
                <a:ea typeface="Inter" pitchFamily="34" charset="-122"/>
                <a:cs typeface="Inter" pitchFamily="34" charset="-120"/>
              </a:rPr>
              <a:t>✓</a:t>
            </a:r>
            <a:endParaRPr lang="en-US" sz="1050" dirty="0"/>
          </a:p>
        </p:txBody>
      </p:sp>
      <p:sp>
        <p:nvSpPr>
          <p:cNvPr id="9" name="Text 7"/>
          <p:cNvSpPr/>
          <p:nvPr/>
        </p:nvSpPr>
        <p:spPr>
          <a:xfrm>
            <a:off x="1257300" y="2701528"/>
            <a:ext cx="8944338" cy="390525"/>
          </a:xfrm>
          <a:prstGeom prst="rect">
            <a:avLst/>
          </a:prstGeom>
          <a:noFill/>
          <a:ln/>
        </p:spPr>
        <p:txBody>
          <a:bodyPr wrap="square" lIns="25400" tIns="25400" rIns="25400" bIns="25400" rtlCol="0" anchor="t">
            <a:normAutofit/>
          </a:bodyPr>
          <a:lstStyle/>
          <a:p>
            <a:pPr marL="0" indent="0" algn="l">
              <a:buNone/>
            </a:pPr>
            <a:r>
              <a:rPr lang="en-US" sz="1950" b="1" dirty="0" err="1">
                <a:solidFill>
                  <a:srgbClr val="1F4E79"/>
                </a:solidFill>
                <a:latin typeface="Inter" pitchFamily="34" charset="0"/>
                <a:ea typeface="Inter" pitchFamily="34" charset="-122"/>
                <a:cs typeface="Inter" pitchFamily="34" charset="-120"/>
              </a:rPr>
              <a:t>実装・検証済</a:t>
            </a:r>
            <a:r>
              <a:rPr lang="en-US" sz="1950" b="1" dirty="0">
                <a:solidFill>
                  <a:srgbClr val="1F4E79"/>
                </a:solidFill>
                <a:latin typeface="Inter" pitchFamily="34" charset="0"/>
                <a:ea typeface="Inter" pitchFamily="34" charset="-122"/>
                <a:cs typeface="Inter" pitchFamily="34" charset="-120"/>
              </a:rPr>
              <a:t> / </a:t>
            </a:r>
            <a:r>
              <a:rPr lang="en-US" sz="1950" b="1" dirty="0" err="1">
                <a:solidFill>
                  <a:srgbClr val="1F4E79"/>
                </a:solidFill>
                <a:latin typeface="Inter" pitchFamily="34" charset="0"/>
                <a:ea typeface="Inter" pitchFamily="34" charset="-122"/>
                <a:cs typeface="Inter" pitchFamily="34" charset="-120"/>
              </a:rPr>
              <a:t>設計のみ・実装未実施</a:t>
            </a:r>
            <a:r>
              <a:rPr lang="en-US" sz="1950" b="1" dirty="0">
                <a:solidFill>
                  <a:srgbClr val="1F4E79"/>
                </a:solidFill>
                <a:latin typeface="Inter" pitchFamily="34" charset="0"/>
                <a:ea typeface="Inter" pitchFamily="34" charset="-122"/>
                <a:cs typeface="Inter" pitchFamily="34" charset="-120"/>
              </a:rPr>
              <a:t> </a:t>
            </a:r>
            <a:r>
              <a:rPr lang="en-US" sz="1950" b="1" dirty="0" err="1">
                <a:solidFill>
                  <a:srgbClr val="1F4E79"/>
                </a:solidFill>
                <a:latin typeface="Inter" pitchFamily="34" charset="0"/>
                <a:ea typeface="Inter" pitchFamily="34" charset="-122"/>
                <a:cs typeface="Inter" pitchFamily="34" charset="-120"/>
              </a:rPr>
              <a:t>を厳密に分けて伝</a:t>
            </a:r>
            <a:r>
              <a:rPr lang="ja-JP" altLang="en-US" sz="1950" b="1" dirty="0">
                <a:solidFill>
                  <a:srgbClr val="1F4E79"/>
                </a:solidFill>
                <a:latin typeface="Inter" pitchFamily="34" charset="0"/>
                <a:ea typeface="Inter" pitchFamily="34" charset="-122"/>
                <a:cs typeface="Inter" pitchFamily="34" charset="-120"/>
              </a:rPr>
              <a:t>え</a:t>
            </a:r>
            <a:r>
              <a:rPr lang="en-US" sz="1950" b="1" dirty="0">
                <a:solidFill>
                  <a:srgbClr val="1F4E79"/>
                </a:solidFill>
                <a:latin typeface="Inter" pitchFamily="34" charset="0"/>
                <a:ea typeface="Inter" pitchFamily="34" charset="-122"/>
                <a:cs typeface="Inter" pitchFamily="34" charset="-120"/>
              </a:rPr>
              <a:t>る。</a:t>
            </a:r>
            <a:endParaRPr lang="en-US" sz="1950" dirty="0"/>
          </a:p>
        </p:txBody>
      </p:sp>
      <p:sp>
        <p:nvSpPr>
          <p:cNvPr id="10" name="Shape 8"/>
          <p:cNvSpPr/>
          <p:nvPr/>
        </p:nvSpPr>
        <p:spPr>
          <a:xfrm>
            <a:off x="952500" y="3320653"/>
            <a:ext cx="8067675" cy="6204347"/>
          </a:xfrm>
          <a:prstGeom prst="rect">
            <a:avLst/>
          </a:prstGeom>
          <a:solidFill>
            <a:srgbClr val="FFFFFF"/>
          </a:solidFill>
          <a:ln/>
        </p:spPr>
      </p:sp>
      <p:sp>
        <p:nvSpPr>
          <p:cNvPr id="11" name="Shape 9"/>
          <p:cNvSpPr/>
          <p:nvPr/>
        </p:nvSpPr>
        <p:spPr>
          <a:xfrm>
            <a:off x="952500" y="9515475"/>
            <a:ext cx="8067675" cy="9525"/>
          </a:xfrm>
          <a:prstGeom prst="rect">
            <a:avLst/>
          </a:prstGeom>
          <a:solidFill>
            <a:srgbClr val="E2E5EA"/>
          </a:solidFill>
          <a:ln/>
        </p:spPr>
      </p:sp>
      <p:sp>
        <p:nvSpPr>
          <p:cNvPr id="12" name="Shape 10"/>
          <p:cNvSpPr/>
          <p:nvPr/>
        </p:nvSpPr>
        <p:spPr>
          <a:xfrm>
            <a:off x="952500" y="3320653"/>
            <a:ext cx="8067675" cy="47625"/>
          </a:xfrm>
          <a:prstGeom prst="rect">
            <a:avLst/>
          </a:prstGeom>
          <a:solidFill>
            <a:srgbClr val="3F5E22"/>
          </a:solidFill>
          <a:ln/>
        </p:spPr>
      </p:sp>
      <p:sp>
        <p:nvSpPr>
          <p:cNvPr id="13" name="Shape 11"/>
          <p:cNvSpPr/>
          <p:nvPr/>
        </p:nvSpPr>
        <p:spPr>
          <a:xfrm>
            <a:off x="952500" y="3320653"/>
            <a:ext cx="9525" cy="6204347"/>
          </a:xfrm>
          <a:prstGeom prst="rect">
            <a:avLst/>
          </a:prstGeom>
          <a:solidFill>
            <a:srgbClr val="E2E5EA"/>
          </a:solidFill>
          <a:ln/>
        </p:spPr>
      </p:sp>
      <p:sp>
        <p:nvSpPr>
          <p:cNvPr id="14" name="Shape 12"/>
          <p:cNvSpPr/>
          <p:nvPr/>
        </p:nvSpPr>
        <p:spPr>
          <a:xfrm>
            <a:off x="9010650" y="3320653"/>
            <a:ext cx="9525" cy="6204347"/>
          </a:xfrm>
          <a:prstGeom prst="rect">
            <a:avLst/>
          </a:prstGeom>
          <a:solidFill>
            <a:srgbClr val="E2E5EA"/>
          </a:solidFill>
          <a:ln/>
        </p:spPr>
      </p:sp>
      <p:sp>
        <p:nvSpPr>
          <p:cNvPr id="15" name="Text 13"/>
          <p:cNvSpPr/>
          <p:nvPr/>
        </p:nvSpPr>
        <p:spPr>
          <a:xfrm>
            <a:off x="1247775" y="3615928"/>
            <a:ext cx="7701439" cy="371475"/>
          </a:xfrm>
          <a:prstGeom prst="rect">
            <a:avLst/>
          </a:prstGeom>
          <a:noFill/>
          <a:ln/>
        </p:spPr>
        <p:txBody>
          <a:bodyPr wrap="square" lIns="25400" tIns="25400" rIns="25400" bIns="25400" rtlCol="0" anchor="t">
            <a:normAutofit/>
          </a:bodyPr>
          <a:lstStyle/>
          <a:p>
            <a:pPr marL="0" indent="0" algn="l">
              <a:buNone/>
            </a:pPr>
            <a:r>
              <a:rPr lang="en-US" sz="1800" b="1" kern="0" spc="288" dirty="0">
                <a:solidFill>
                  <a:srgbClr val="3F5E22"/>
                </a:solidFill>
                <a:latin typeface="Inter" pitchFamily="34" charset="0"/>
                <a:ea typeface="Inter" pitchFamily="34" charset="-122"/>
                <a:cs typeface="Inter" pitchFamily="34" charset="-120"/>
              </a:rPr>
              <a:t>主役 · 実装・検証済</a:t>
            </a:r>
            <a:endParaRPr lang="en-US" sz="1800" dirty="0"/>
          </a:p>
        </p:txBody>
      </p:sp>
      <p:sp>
        <p:nvSpPr>
          <p:cNvPr id="16" name="Text 14"/>
          <p:cNvSpPr/>
          <p:nvPr/>
        </p:nvSpPr>
        <p:spPr>
          <a:xfrm>
            <a:off x="1247775" y="4044553"/>
            <a:ext cx="7701439" cy="419100"/>
          </a:xfrm>
          <a:prstGeom prst="rect">
            <a:avLst/>
          </a:prstGeom>
          <a:noFill/>
          <a:ln/>
        </p:spPr>
        <p:txBody>
          <a:bodyPr wrap="square" lIns="25400" tIns="25400" rIns="25400" bIns="25400" rtlCol="0" anchor="t">
            <a:normAutofit/>
          </a:bodyPr>
          <a:lstStyle/>
          <a:p>
            <a:pPr marL="0" indent="0" algn="l">
              <a:buNone/>
            </a:pPr>
            <a:r>
              <a:rPr lang="en-US" sz="2100" b="1" dirty="0">
                <a:solidFill>
                  <a:srgbClr val="0E1116"/>
                </a:solidFill>
                <a:latin typeface="Noto Serif JP" pitchFamily="34" charset="0"/>
                <a:ea typeface="Noto Serif JP" pitchFamily="34" charset="-122"/>
                <a:cs typeface="Noto Serif JP" pitchFamily="34" charset="-120"/>
              </a:rPr>
              <a:t>オンプレ相当検証環境</a:t>
            </a:r>
            <a:endParaRPr lang="en-US" sz="2100" dirty="0"/>
          </a:p>
        </p:txBody>
      </p:sp>
      <p:sp>
        <p:nvSpPr>
          <p:cNvPr id="17" name="Text 15"/>
          <p:cNvSpPr/>
          <p:nvPr/>
        </p:nvSpPr>
        <p:spPr>
          <a:xfrm>
            <a:off x="1283970" y="4558903"/>
            <a:ext cx="7658957" cy="458986"/>
          </a:xfrm>
          <a:prstGeom prst="rect">
            <a:avLst/>
          </a:prstGeom>
          <a:noFill/>
          <a:ln/>
        </p:spPr>
        <p:txBody>
          <a:bodyPr wrap="square" lIns="25400" tIns="25400" rIns="25400" bIns="25400" rtlCol="0" anchor="t">
            <a:normAutofit fontScale="92500"/>
          </a:bodyPr>
          <a:lstStyle/>
          <a:p>
            <a:pPr marL="173355" indent="-173355" algn="l">
              <a:lnSpc>
                <a:spcPct val="170000"/>
              </a:lnSpc>
              <a:buSzPct val="100000"/>
              <a:buChar char="•"/>
              <a:tabLst>
                <a:tab pos="173355" algn="l"/>
              </a:tabLst>
            </a:pPr>
            <a:r>
              <a:rPr lang="en-US" sz="1950" dirty="0">
                <a:solidFill>
                  <a:srgbClr val="3A414A"/>
                </a:solidFill>
                <a:latin typeface="Inter" pitchFamily="34" charset="0"/>
                <a:ea typeface="Inter" pitchFamily="34" charset="-122"/>
                <a:cs typeface="Inter" pitchFamily="34" charset="-120"/>
              </a:rPr>
              <a:t>3段Proxy / 認証 / DNS・PAC / 暗号化 / 検査</a:t>
            </a:r>
            <a:endParaRPr lang="en-US" sz="1950" dirty="0"/>
          </a:p>
        </p:txBody>
      </p:sp>
      <p:sp>
        <p:nvSpPr>
          <p:cNvPr id="18" name="Text 16"/>
          <p:cNvSpPr/>
          <p:nvPr/>
        </p:nvSpPr>
        <p:spPr>
          <a:xfrm>
            <a:off x="1283970" y="4979789"/>
            <a:ext cx="7658957" cy="458986"/>
          </a:xfrm>
          <a:prstGeom prst="rect">
            <a:avLst/>
          </a:prstGeom>
          <a:noFill/>
          <a:ln/>
        </p:spPr>
        <p:txBody>
          <a:bodyPr wrap="square" lIns="25400" tIns="25400" rIns="25400" bIns="25400" rtlCol="0" anchor="t">
            <a:normAutofit fontScale="92500"/>
          </a:bodyPr>
          <a:lstStyle/>
          <a:p>
            <a:pPr marL="173355" indent="-173355" algn="l">
              <a:lnSpc>
                <a:spcPct val="170000"/>
              </a:lnSpc>
              <a:buSzPct val="100000"/>
              <a:buChar char="•"/>
              <a:tabLst>
                <a:tab pos="173355" algn="l"/>
              </a:tabLst>
            </a:pPr>
            <a:r>
              <a:rPr lang="en-US" sz="1950" dirty="0">
                <a:solidFill>
                  <a:srgbClr val="3A414A"/>
                </a:solidFill>
                <a:latin typeface="Inter" pitchFamily="34" charset="0"/>
                <a:ea typeface="Inter" pitchFamily="34" charset="-122"/>
                <a:cs typeface="Inter" pitchFamily="34" charset="-120"/>
              </a:rPr>
              <a:t>ログ収集・可視化 / 継続監視</a:t>
            </a:r>
            <a:endParaRPr lang="en-US" sz="1950" dirty="0"/>
          </a:p>
        </p:txBody>
      </p:sp>
      <p:sp>
        <p:nvSpPr>
          <p:cNvPr id="19" name="Text 17"/>
          <p:cNvSpPr/>
          <p:nvPr/>
        </p:nvSpPr>
        <p:spPr>
          <a:xfrm>
            <a:off x="1283970" y="5400675"/>
            <a:ext cx="7658957" cy="458986"/>
          </a:xfrm>
          <a:prstGeom prst="rect">
            <a:avLst/>
          </a:prstGeom>
          <a:noFill/>
          <a:ln/>
        </p:spPr>
        <p:txBody>
          <a:bodyPr wrap="square" lIns="25400" tIns="25400" rIns="25400" bIns="25400" rtlCol="0" anchor="t">
            <a:normAutofit fontScale="92500"/>
          </a:bodyPr>
          <a:lstStyle/>
          <a:p>
            <a:pPr marL="173355" indent="-173355" algn="l">
              <a:lnSpc>
                <a:spcPct val="170000"/>
              </a:lnSpc>
              <a:buSzPct val="100000"/>
              <a:buChar char="•"/>
              <a:tabLst>
                <a:tab pos="173355" algn="l"/>
              </a:tabLst>
            </a:pPr>
            <a:r>
              <a:rPr lang="en-US" sz="1950" dirty="0">
                <a:solidFill>
                  <a:srgbClr val="3A414A"/>
                </a:solidFill>
                <a:latin typeface="Inter" pitchFamily="34" charset="0"/>
                <a:ea typeface="Inter" pitchFamily="34" charset="-122"/>
                <a:cs typeface="Inter" pitchFamily="34" charset="-120"/>
              </a:rPr>
              <a:t>約25分で「検証可能状態」まで再構築できる</a:t>
            </a:r>
            <a:endParaRPr lang="en-US" sz="1950" dirty="0"/>
          </a:p>
        </p:txBody>
      </p:sp>
      <p:sp>
        <p:nvSpPr>
          <p:cNvPr id="20" name="Shape 18"/>
          <p:cNvSpPr/>
          <p:nvPr/>
        </p:nvSpPr>
        <p:spPr>
          <a:xfrm>
            <a:off x="9267825" y="3320653"/>
            <a:ext cx="8067675" cy="6204347"/>
          </a:xfrm>
          <a:prstGeom prst="rect">
            <a:avLst/>
          </a:prstGeom>
          <a:solidFill>
            <a:srgbClr val="FFFFFF"/>
          </a:solidFill>
          <a:ln/>
        </p:spPr>
      </p:sp>
      <p:sp>
        <p:nvSpPr>
          <p:cNvPr id="21" name="Shape 19"/>
          <p:cNvSpPr/>
          <p:nvPr/>
        </p:nvSpPr>
        <p:spPr>
          <a:xfrm>
            <a:off x="9267825" y="9515475"/>
            <a:ext cx="8067675" cy="9525"/>
          </a:xfrm>
          <a:prstGeom prst="rect">
            <a:avLst/>
          </a:prstGeom>
          <a:solidFill>
            <a:srgbClr val="E2E5EA"/>
          </a:solidFill>
          <a:ln/>
        </p:spPr>
      </p:sp>
      <p:sp>
        <p:nvSpPr>
          <p:cNvPr id="22" name="Shape 20"/>
          <p:cNvSpPr/>
          <p:nvPr/>
        </p:nvSpPr>
        <p:spPr>
          <a:xfrm>
            <a:off x="9267825" y="3320653"/>
            <a:ext cx="8067675" cy="47625"/>
          </a:xfrm>
          <a:prstGeom prst="rect">
            <a:avLst/>
          </a:prstGeom>
          <a:solidFill>
            <a:srgbClr val="1F4E79"/>
          </a:solidFill>
          <a:ln/>
        </p:spPr>
      </p:sp>
      <p:sp>
        <p:nvSpPr>
          <p:cNvPr id="23" name="Shape 21"/>
          <p:cNvSpPr/>
          <p:nvPr/>
        </p:nvSpPr>
        <p:spPr>
          <a:xfrm>
            <a:off x="9267825" y="3320653"/>
            <a:ext cx="9525" cy="6204347"/>
          </a:xfrm>
          <a:prstGeom prst="rect">
            <a:avLst/>
          </a:prstGeom>
          <a:solidFill>
            <a:srgbClr val="E2E5EA"/>
          </a:solidFill>
          <a:ln/>
        </p:spPr>
      </p:sp>
      <p:sp>
        <p:nvSpPr>
          <p:cNvPr id="24" name="Shape 22"/>
          <p:cNvSpPr/>
          <p:nvPr/>
        </p:nvSpPr>
        <p:spPr>
          <a:xfrm>
            <a:off x="17325975" y="3320653"/>
            <a:ext cx="9525" cy="6204347"/>
          </a:xfrm>
          <a:prstGeom prst="rect">
            <a:avLst/>
          </a:prstGeom>
          <a:solidFill>
            <a:srgbClr val="E2E5EA"/>
          </a:solidFill>
          <a:ln/>
        </p:spPr>
      </p:sp>
      <p:sp>
        <p:nvSpPr>
          <p:cNvPr id="25" name="Text 23"/>
          <p:cNvSpPr/>
          <p:nvPr/>
        </p:nvSpPr>
        <p:spPr>
          <a:xfrm>
            <a:off x="9563100" y="3615928"/>
            <a:ext cx="7701439" cy="371475"/>
          </a:xfrm>
          <a:prstGeom prst="rect">
            <a:avLst/>
          </a:prstGeom>
          <a:noFill/>
          <a:ln/>
        </p:spPr>
        <p:txBody>
          <a:bodyPr wrap="square" lIns="25400" tIns="25400" rIns="25400" bIns="25400" rtlCol="0" anchor="t">
            <a:normAutofit/>
          </a:bodyPr>
          <a:lstStyle/>
          <a:p>
            <a:pPr marL="0" indent="0" algn="l">
              <a:buNone/>
            </a:pPr>
            <a:r>
              <a:rPr lang="en-US" sz="1800" b="1" kern="0" spc="288" dirty="0">
                <a:solidFill>
                  <a:srgbClr val="1F4E79"/>
                </a:solidFill>
                <a:latin typeface="Inter" pitchFamily="34" charset="0"/>
                <a:ea typeface="Inter" pitchFamily="34" charset="-122"/>
                <a:cs typeface="Inter" pitchFamily="34" charset="-120"/>
              </a:rPr>
              <a:t>補足 · 設計のみ・実装未実施</a:t>
            </a:r>
            <a:endParaRPr lang="en-US" sz="1800" dirty="0"/>
          </a:p>
        </p:txBody>
      </p:sp>
      <p:sp>
        <p:nvSpPr>
          <p:cNvPr id="26" name="Text 24"/>
          <p:cNvSpPr/>
          <p:nvPr/>
        </p:nvSpPr>
        <p:spPr>
          <a:xfrm>
            <a:off x="9563100" y="4044553"/>
            <a:ext cx="7701439" cy="419100"/>
          </a:xfrm>
          <a:prstGeom prst="rect">
            <a:avLst/>
          </a:prstGeom>
          <a:noFill/>
          <a:ln/>
        </p:spPr>
        <p:txBody>
          <a:bodyPr wrap="square" lIns="25400" tIns="25400" rIns="25400" bIns="25400" rtlCol="0" anchor="t">
            <a:normAutofit/>
          </a:bodyPr>
          <a:lstStyle/>
          <a:p>
            <a:pPr marL="0" indent="0" algn="l">
              <a:buNone/>
            </a:pPr>
            <a:r>
              <a:rPr lang="en-US" sz="2100" b="1" dirty="0">
                <a:solidFill>
                  <a:srgbClr val="0E1116"/>
                </a:solidFill>
                <a:latin typeface="Noto Serif JP" pitchFamily="34" charset="0"/>
                <a:ea typeface="Noto Serif JP" pitchFamily="34" charset="-122"/>
                <a:cs typeface="Noto Serif JP" pitchFamily="34" charset="-120"/>
              </a:rPr>
              <a:t>AWS移行設計案</a:t>
            </a:r>
            <a:endParaRPr lang="en-US" sz="2100" dirty="0"/>
          </a:p>
        </p:txBody>
      </p:sp>
      <p:sp>
        <p:nvSpPr>
          <p:cNvPr id="27" name="Text 25"/>
          <p:cNvSpPr/>
          <p:nvPr/>
        </p:nvSpPr>
        <p:spPr>
          <a:xfrm>
            <a:off x="9599295" y="4558903"/>
            <a:ext cx="7658957" cy="458986"/>
          </a:xfrm>
          <a:prstGeom prst="rect">
            <a:avLst/>
          </a:prstGeom>
          <a:noFill/>
          <a:ln/>
        </p:spPr>
        <p:txBody>
          <a:bodyPr wrap="square" lIns="25400" tIns="25400" rIns="25400" bIns="25400" rtlCol="0" anchor="t">
            <a:normAutofit fontScale="92500"/>
          </a:bodyPr>
          <a:lstStyle/>
          <a:p>
            <a:pPr marL="173355" indent="-173355" algn="l">
              <a:lnSpc>
                <a:spcPct val="170000"/>
              </a:lnSpc>
              <a:buSzPct val="100000"/>
              <a:buChar char="•"/>
              <a:tabLst>
                <a:tab pos="173355" algn="l"/>
              </a:tabLst>
            </a:pPr>
            <a:r>
              <a:rPr lang="en-US" sz="1950" dirty="0">
                <a:solidFill>
                  <a:srgbClr val="3A414A"/>
                </a:solidFill>
                <a:latin typeface="Inter" pitchFamily="34" charset="0"/>
                <a:ea typeface="Inter" pitchFamily="34" charset="-122"/>
                <a:cs typeface="Inter" pitchFamily="34" charset="-120"/>
              </a:rPr>
              <a:t>OSSの責務分離をAWSマネージドへ写像する設計</a:t>
            </a:r>
            <a:endParaRPr lang="en-US" sz="1950" dirty="0"/>
          </a:p>
        </p:txBody>
      </p:sp>
      <p:sp>
        <p:nvSpPr>
          <p:cNvPr id="28" name="Text 26"/>
          <p:cNvSpPr/>
          <p:nvPr/>
        </p:nvSpPr>
        <p:spPr>
          <a:xfrm>
            <a:off x="9599295" y="4979789"/>
            <a:ext cx="7658957" cy="458986"/>
          </a:xfrm>
          <a:prstGeom prst="rect">
            <a:avLst/>
          </a:prstGeom>
          <a:noFill/>
          <a:ln/>
        </p:spPr>
        <p:txBody>
          <a:bodyPr wrap="square" lIns="25400" tIns="25400" rIns="25400" bIns="25400" rtlCol="0" anchor="t">
            <a:normAutofit fontScale="92500" lnSpcReduction="10000"/>
          </a:bodyPr>
          <a:lstStyle/>
          <a:p>
            <a:pPr marL="173355" indent="-173355" algn="l">
              <a:lnSpc>
                <a:spcPct val="170000"/>
              </a:lnSpc>
              <a:buSzPct val="100000"/>
              <a:buChar char="•"/>
              <a:tabLst>
                <a:tab pos="173355" algn="l"/>
              </a:tabLst>
            </a:pPr>
            <a:r>
              <a:rPr lang="en-US" sz="1950" dirty="0">
                <a:solidFill>
                  <a:srgbClr val="3A414A"/>
                </a:solidFill>
                <a:latin typeface="Inter" pitchFamily="34" charset="0"/>
                <a:ea typeface="Inter" pitchFamily="34" charset="-122"/>
                <a:cs typeface="Inter" pitchFamily="34" charset="-120"/>
              </a:rPr>
              <a:t>AD Connector / CloudWatch Logs / S3 / SSM</a:t>
            </a:r>
            <a:endParaRPr lang="en-US" sz="1950" dirty="0"/>
          </a:p>
        </p:txBody>
      </p:sp>
      <p:sp>
        <p:nvSpPr>
          <p:cNvPr id="29" name="Text 27"/>
          <p:cNvSpPr/>
          <p:nvPr/>
        </p:nvSpPr>
        <p:spPr>
          <a:xfrm>
            <a:off x="9599295" y="5400675"/>
            <a:ext cx="7658957" cy="458986"/>
          </a:xfrm>
          <a:prstGeom prst="rect">
            <a:avLst/>
          </a:prstGeom>
          <a:noFill/>
          <a:ln/>
        </p:spPr>
        <p:txBody>
          <a:bodyPr wrap="square" lIns="25400" tIns="25400" rIns="25400" bIns="25400" rtlCol="0" anchor="t">
            <a:normAutofit fontScale="92500"/>
          </a:bodyPr>
          <a:lstStyle/>
          <a:p>
            <a:pPr marL="173355" indent="-173355" algn="l">
              <a:lnSpc>
                <a:spcPct val="170000"/>
              </a:lnSpc>
              <a:buSzPct val="100000"/>
              <a:buChar char="•"/>
              <a:tabLst>
                <a:tab pos="173355" algn="l"/>
              </a:tabLst>
            </a:pPr>
            <a:r>
              <a:rPr lang="en-US" sz="1950" dirty="0">
                <a:solidFill>
                  <a:srgbClr val="3A414A"/>
                </a:solidFill>
                <a:latin typeface="Inter" pitchFamily="34" charset="0"/>
                <a:ea typeface="Inter" pitchFamily="34" charset="-122"/>
                <a:cs typeface="Inter" pitchFamily="34" charset="-120"/>
              </a:rPr>
              <a:t>AWS実機構築は未実施</a:t>
            </a:r>
            <a:endParaRPr lang="en-US" sz="1950" dirty="0"/>
          </a:p>
        </p:txBody>
      </p:sp>
      <p:sp>
        <p:nvSpPr>
          <p:cNvPr id="30" name="Text 28"/>
          <p:cNvSpPr/>
          <p:nvPr/>
        </p:nvSpPr>
        <p:spPr>
          <a:xfrm>
            <a:off x="952500" y="9763125"/>
            <a:ext cx="2747930"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MULTIPROXY · gan2</a:t>
            </a:r>
            <a:endParaRPr lang="en-US" sz="1800" dirty="0"/>
          </a:p>
        </p:txBody>
      </p:sp>
      <p:sp>
        <p:nvSpPr>
          <p:cNvPr id="31" name="Text 29"/>
          <p:cNvSpPr/>
          <p:nvPr/>
        </p:nvSpPr>
        <p:spPr>
          <a:xfrm>
            <a:off x="9395222" y="9763125"/>
            <a:ext cx="1317575"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Overview</a:t>
            </a:r>
            <a:endParaRPr lang="en-US" sz="1800" dirty="0"/>
          </a:p>
        </p:txBody>
      </p:sp>
      <p:sp>
        <p:nvSpPr>
          <p:cNvPr id="32" name="Text 30"/>
          <p:cNvSpPr/>
          <p:nvPr/>
        </p:nvSpPr>
        <p:spPr>
          <a:xfrm>
            <a:off x="16411426" y="9763125"/>
            <a:ext cx="1000274"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02/10</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6"/>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4EE"/>
          </a:solidFill>
          <a:ln/>
        </p:spPr>
      </p:sp>
      <p:sp>
        <p:nvSpPr>
          <p:cNvPr id="3" name="Shape 1"/>
          <p:cNvSpPr/>
          <p:nvPr/>
        </p:nvSpPr>
        <p:spPr>
          <a:xfrm>
            <a:off x="952500" y="1076325"/>
            <a:ext cx="476250" cy="19050"/>
          </a:xfrm>
          <a:prstGeom prst="rect">
            <a:avLst/>
          </a:prstGeom>
          <a:solidFill>
            <a:srgbClr val="B6802A"/>
          </a:solidFill>
          <a:ln/>
        </p:spPr>
      </p:sp>
      <p:sp>
        <p:nvSpPr>
          <p:cNvPr id="4" name="Text 2"/>
          <p:cNvSpPr/>
          <p:nvPr/>
        </p:nvSpPr>
        <p:spPr>
          <a:xfrm>
            <a:off x="914400" y="742950"/>
            <a:ext cx="552450" cy="333375"/>
          </a:xfrm>
          <a:prstGeom prst="rect">
            <a:avLst/>
          </a:prstGeom>
          <a:noFill/>
          <a:ln/>
        </p:spPr>
        <p:txBody>
          <a:bodyPr wrap="square" lIns="25400" tIns="25400" rIns="25400" bIns="25400" rtlCol="0" anchor="t">
            <a:normAutofit lnSpcReduction="10000"/>
          </a:bodyPr>
          <a:lstStyle/>
          <a:p>
            <a:pPr marL="0" indent="0" algn="ctr">
              <a:buNone/>
            </a:pPr>
            <a:r>
              <a:rPr lang="en-US" sz="1950" b="1" kern="0" spc="351" dirty="0">
                <a:solidFill>
                  <a:srgbClr val="B6802A"/>
                </a:solidFill>
                <a:latin typeface="Inter" pitchFamily="34" charset="0"/>
                <a:ea typeface="Inter" pitchFamily="34" charset="-122"/>
                <a:cs typeface="Inter" pitchFamily="34" charset="-120"/>
              </a:rPr>
              <a:t>02</a:t>
            </a:r>
            <a:endParaRPr lang="en-US" sz="1950" dirty="0"/>
          </a:p>
        </p:txBody>
      </p:sp>
      <p:sp>
        <p:nvSpPr>
          <p:cNvPr id="5" name="Text 3"/>
          <p:cNvSpPr/>
          <p:nvPr/>
        </p:nvSpPr>
        <p:spPr>
          <a:xfrm>
            <a:off x="1562100" y="742950"/>
            <a:ext cx="4214024" cy="390525"/>
          </a:xfrm>
          <a:prstGeom prst="rect">
            <a:avLst/>
          </a:prstGeom>
          <a:noFill/>
          <a:ln/>
        </p:spPr>
        <p:txBody>
          <a:bodyPr wrap="square" lIns="25400" tIns="25400" rIns="25400" bIns="25400" rtlCol="0" anchor="t">
            <a:normAutofit/>
          </a:bodyPr>
          <a:lstStyle/>
          <a:p>
            <a:pPr marL="0" indent="0" algn="l">
              <a:buNone/>
            </a:pPr>
            <a:r>
              <a:rPr lang="en-US" sz="1950" b="1" kern="0" spc="312" dirty="0">
                <a:solidFill>
                  <a:srgbClr val="B6802A"/>
                </a:solidFill>
                <a:latin typeface="Inter" pitchFamily="34" charset="0"/>
                <a:ea typeface="Inter" pitchFamily="34" charset="-122"/>
                <a:cs typeface="Inter" pitchFamily="34" charset="-120"/>
              </a:rPr>
              <a:t>BACKGROUND — 背景・課題</a:t>
            </a:r>
            <a:endParaRPr lang="en-US" sz="1950" dirty="0"/>
          </a:p>
        </p:txBody>
      </p:sp>
      <p:sp>
        <p:nvSpPr>
          <p:cNvPr id="6" name="Text 4"/>
          <p:cNvSpPr/>
          <p:nvPr/>
        </p:nvSpPr>
        <p:spPr>
          <a:xfrm>
            <a:off x="952500" y="1304925"/>
            <a:ext cx="16874490" cy="1339453"/>
          </a:xfrm>
          <a:prstGeom prst="rect">
            <a:avLst/>
          </a:prstGeom>
          <a:noFill/>
          <a:ln/>
        </p:spPr>
        <p:txBody>
          <a:bodyPr wrap="square" lIns="25400" tIns="25400" rIns="25400" bIns="25400" rtlCol="0" anchor="t">
            <a:normAutofit fontScale="92500" lnSpcReduction="20000"/>
          </a:bodyPr>
          <a:lstStyle/>
          <a:p>
            <a:pPr marL="0" indent="0" algn="l">
              <a:lnSpc>
                <a:spcPct val="122000"/>
              </a:lnSpc>
              <a:buNone/>
            </a:pPr>
            <a:r>
              <a:rPr lang="en-US" sz="4200" b="1" dirty="0">
                <a:solidFill>
                  <a:srgbClr val="0E1116"/>
                </a:solidFill>
                <a:latin typeface="Noto Serif JP" pitchFamily="34" charset="0"/>
                <a:ea typeface="Noto Serif JP" pitchFamily="34" charset="-122"/>
                <a:cs typeface="Noto Serif JP" pitchFamily="34" charset="-120"/>
              </a:rPr>
              <a:t>ベンダー回答に頼らず、設計意図と挙動を自分の言葉で説明できる状態を作りたかった。</a:t>
            </a:r>
            <a:endParaRPr lang="en-US" sz="4200" dirty="0"/>
          </a:p>
        </p:txBody>
      </p:sp>
      <p:sp>
        <p:nvSpPr>
          <p:cNvPr id="7" name="Shape 5"/>
          <p:cNvSpPr/>
          <p:nvPr/>
        </p:nvSpPr>
        <p:spPr>
          <a:xfrm>
            <a:off x="952500" y="2901756"/>
            <a:ext cx="209550" cy="209550"/>
          </a:xfrm>
          <a:prstGeom prst="ellipse">
            <a:avLst/>
          </a:prstGeom>
          <a:solidFill>
            <a:srgbClr val="1F4E79"/>
          </a:solidFill>
          <a:ln/>
        </p:spPr>
      </p:sp>
      <p:sp>
        <p:nvSpPr>
          <p:cNvPr id="8" name="Text 6"/>
          <p:cNvSpPr/>
          <p:nvPr/>
        </p:nvSpPr>
        <p:spPr>
          <a:xfrm>
            <a:off x="914400" y="2901756"/>
            <a:ext cx="285750" cy="247650"/>
          </a:xfrm>
          <a:prstGeom prst="rect">
            <a:avLst/>
          </a:prstGeom>
          <a:noFill/>
          <a:ln/>
        </p:spPr>
        <p:txBody>
          <a:bodyPr wrap="square" lIns="25400" tIns="25400" rIns="25400" bIns="25400" rtlCol="0" anchor="t">
            <a:normAutofit fontScale="92500" lnSpcReduction="20000"/>
          </a:bodyPr>
          <a:lstStyle/>
          <a:p>
            <a:pPr marL="0" indent="0" algn="ctr">
              <a:lnSpc>
                <a:spcPct val="157143"/>
              </a:lnSpc>
              <a:buNone/>
            </a:pPr>
            <a:r>
              <a:rPr lang="en-US" sz="1050" b="1" dirty="0">
                <a:solidFill>
                  <a:srgbClr val="FFFFFF"/>
                </a:solidFill>
                <a:latin typeface="Inter" pitchFamily="34" charset="0"/>
                <a:ea typeface="Inter" pitchFamily="34" charset="-122"/>
                <a:cs typeface="Inter" pitchFamily="34" charset="-120"/>
              </a:rPr>
              <a:t>✓</a:t>
            </a:r>
            <a:endParaRPr lang="en-US" sz="1050" dirty="0"/>
          </a:p>
        </p:txBody>
      </p:sp>
      <p:sp>
        <p:nvSpPr>
          <p:cNvPr id="9" name="Text 7"/>
          <p:cNvSpPr/>
          <p:nvPr/>
        </p:nvSpPr>
        <p:spPr>
          <a:xfrm>
            <a:off x="1257300" y="2830318"/>
            <a:ext cx="6109185"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1F4E79"/>
                </a:solidFill>
                <a:latin typeface="Inter" pitchFamily="34" charset="0"/>
                <a:ea typeface="Inter" pitchFamily="34" charset="-122"/>
                <a:cs typeface="Inter" pitchFamily="34" charset="-120"/>
              </a:rPr>
              <a:t>障害時に、設計判断の理由をログ根拠で説明できる。</a:t>
            </a:r>
            <a:endParaRPr lang="en-US" sz="1950" dirty="0"/>
          </a:p>
        </p:txBody>
      </p:sp>
      <p:sp>
        <p:nvSpPr>
          <p:cNvPr id="10" name="Shape 8"/>
          <p:cNvSpPr/>
          <p:nvPr/>
        </p:nvSpPr>
        <p:spPr>
          <a:xfrm>
            <a:off x="952500" y="3339703"/>
            <a:ext cx="8790682" cy="6185297"/>
          </a:xfrm>
          <a:prstGeom prst="rect">
            <a:avLst/>
          </a:prstGeom>
          <a:solidFill>
            <a:srgbClr val="FFFFFF"/>
          </a:solidFill>
          <a:ln w="9525">
            <a:solidFill>
              <a:srgbClr val="E2E5EA"/>
            </a:solidFill>
            <a:prstDash val="solid"/>
          </a:ln>
        </p:spPr>
      </p:sp>
      <p:sp>
        <p:nvSpPr>
          <p:cNvPr id="11" name="Text 9"/>
          <p:cNvSpPr/>
          <p:nvPr/>
        </p:nvSpPr>
        <p:spPr>
          <a:xfrm>
            <a:off x="1266825" y="3615928"/>
            <a:ext cx="8406893" cy="2952750"/>
          </a:xfrm>
          <a:prstGeom prst="rect">
            <a:avLst/>
          </a:prstGeom>
          <a:noFill/>
          <a:ln/>
        </p:spPr>
        <p:txBody>
          <a:bodyPr wrap="square" lIns="25400" tIns="25400" rIns="25400" bIns="25400" rtlCol="0" anchor="t">
            <a:normAutofit/>
          </a:bodyPr>
          <a:lstStyle/>
          <a:p>
            <a:pPr marL="0" indent="0" algn="l">
              <a:lnSpc>
                <a:spcPct val="170000"/>
              </a:lnSpc>
              <a:buNone/>
            </a:pPr>
            <a:r>
              <a:rPr lang="en-US" sz="2250" dirty="0">
                <a:solidFill>
                  <a:srgbClr val="3A414A"/>
                </a:solidFill>
                <a:latin typeface="Inter" pitchFamily="34" charset="0"/>
                <a:ea typeface="Inter" pitchFamily="34" charset="-122"/>
                <a:cs typeface="Inter" pitchFamily="34" charset="-120"/>
              </a:rPr>
              <a:t>実務で障害解析をすると、ベンダー回答に依存しやすく、 </a:t>
            </a:r>
            <a:r>
              <a:rPr lang="en-US" sz="2250" b="1" dirty="0">
                <a:solidFill>
                  <a:srgbClr val="0E1116"/>
                </a:solidFill>
                <a:latin typeface="Inter" pitchFamily="34" charset="0"/>
                <a:ea typeface="Inter" pitchFamily="34" charset="-122"/>
                <a:cs typeface="Inter" pitchFamily="34" charset="-120"/>
              </a:rPr>
              <a:t>原因や設計意図を自分の言葉で説明しづらい場面 </a:t>
            </a:r>
            <a:r>
              <a:rPr lang="en-US" sz="2250" dirty="0">
                <a:solidFill>
                  <a:srgbClr val="3A414A"/>
                </a:solidFill>
                <a:latin typeface="Inter" pitchFamily="34" charset="0"/>
                <a:ea typeface="Inter" pitchFamily="34" charset="-122"/>
                <a:cs typeface="Inter" pitchFamily="34" charset="-120"/>
              </a:rPr>
              <a:t>があった。 そこで入口から出口まで自分で構築し、 </a:t>
            </a:r>
            <a:r>
              <a:rPr lang="en-US" sz="2250" b="1" dirty="0">
                <a:solidFill>
                  <a:srgbClr val="0E1116"/>
                </a:solidFill>
                <a:latin typeface="Inter" pitchFamily="34" charset="0"/>
                <a:ea typeface="Inter" pitchFamily="34" charset="-122"/>
                <a:cs typeface="Inter" pitchFamily="34" charset="-120"/>
              </a:rPr>
              <a:t>通信・認証・暗号化・ログを横断してログ根拠で説明できる状態 </a:t>
            </a:r>
            <a:r>
              <a:rPr lang="en-US" sz="2250" dirty="0">
                <a:solidFill>
                  <a:srgbClr val="3A414A"/>
                </a:solidFill>
                <a:latin typeface="Inter" pitchFamily="34" charset="0"/>
                <a:ea typeface="Inter" pitchFamily="34" charset="-122"/>
                <a:cs typeface="Inter" pitchFamily="34" charset="-120"/>
              </a:rPr>
              <a:t>を作る、という目標を立てた。</a:t>
            </a:r>
            <a:endParaRPr lang="en-US" sz="2250" dirty="0"/>
          </a:p>
        </p:txBody>
      </p:sp>
      <p:sp>
        <p:nvSpPr>
          <p:cNvPr id="12" name="Shape 10"/>
          <p:cNvSpPr/>
          <p:nvPr/>
        </p:nvSpPr>
        <p:spPr>
          <a:xfrm>
            <a:off x="10009882" y="3339703"/>
            <a:ext cx="7325618" cy="745778"/>
          </a:xfrm>
          <a:prstGeom prst="rect">
            <a:avLst/>
          </a:prstGeom>
          <a:solidFill>
            <a:srgbClr val="FFFFFF"/>
          </a:solidFill>
          <a:ln/>
        </p:spPr>
      </p:sp>
      <p:sp>
        <p:nvSpPr>
          <p:cNvPr id="13" name="Shape 11"/>
          <p:cNvSpPr/>
          <p:nvPr/>
        </p:nvSpPr>
        <p:spPr>
          <a:xfrm>
            <a:off x="10009882" y="4075956"/>
            <a:ext cx="7325618" cy="9525"/>
          </a:xfrm>
          <a:prstGeom prst="rect">
            <a:avLst/>
          </a:prstGeom>
          <a:solidFill>
            <a:srgbClr val="E2E5EA"/>
          </a:solidFill>
          <a:ln/>
        </p:spPr>
      </p:sp>
      <p:sp>
        <p:nvSpPr>
          <p:cNvPr id="14" name="Shape 12"/>
          <p:cNvSpPr/>
          <p:nvPr/>
        </p:nvSpPr>
        <p:spPr>
          <a:xfrm>
            <a:off x="10009882" y="3339703"/>
            <a:ext cx="7325618" cy="9525"/>
          </a:xfrm>
          <a:prstGeom prst="rect">
            <a:avLst/>
          </a:prstGeom>
          <a:solidFill>
            <a:srgbClr val="E2E5EA"/>
          </a:solidFill>
          <a:ln/>
        </p:spPr>
      </p:sp>
      <p:sp>
        <p:nvSpPr>
          <p:cNvPr id="15" name="Shape 13"/>
          <p:cNvSpPr/>
          <p:nvPr/>
        </p:nvSpPr>
        <p:spPr>
          <a:xfrm>
            <a:off x="10009882" y="3339703"/>
            <a:ext cx="38100" cy="745778"/>
          </a:xfrm>
          <a:prstGeom prst="rect">
            <a:avLst/>
          </a:prstGeom>
          <a:solidFill>
            <a:srgbClr val="B6802A"/>
          </a:solidFill>
          <a:ln/>
        </p:spPr>
      </p:sp>
      <p:sp>
        <p:nvSpPr>
          <p:cNvPr id="16" name="Shape 14"/>
          <p:cNvSpPr/>
          <p:nvPr/>
        </p:nvSpPr>
        <p:spPr>
          <a:xfrm>
            <a:off x="17325975" y="3339703"/>
            <a:ext cx="9525" cy="745778"/>
          </a:xfrm>
          <a:prstGeom prst="rect">
            <a:avLst/>
          </a:prstGeom>
          <a:solidFill>
            <a:srgbClr val="E2E5EA"/>
          </a:solidFill>
          <a:ln/>
        </p:spPr>
      </p:sp>
      <p:sp>
        <p:nvSpPr>
          <p:cNvPr id="17" name="Text 15"/>
          <p:cNvSpPr/>
          <p:nvPr/>
        </p:nvSpPr>
        <p:spPr>
          <a:xfrm>
            <a:off x="10257532" y="3520678"/>
            <a:ext cx="7078662" cy="421928"/>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950" b="1" dirty="0">
                <a:solidFill>
                  <a:srgbClr val="B6802A"/>
                </a:solidFill>
                <a:latin typeface="Inter" pitchFamily="34" charset="0"/>
                <a:ea typeface="Inter" pitchFamily="34" charset="-122"/>
                <a:cs typeface="Inter" pitchFamily="34" charset="-120"/>
              </a:rPr>
              <a:t>01 </a:t>
            </a:r>
            <a:r>
              <a:rPr lang="en-US" sz="1950" dirty="0">
                <a:solidFill>
                  <a:srgbClr val="0E1116"/>
                </a:solidFill>
                <a:highlight>
                  <a:srgbClr val="FFFFFF"/>
                </a:highlight>
                <a:latin typeface="Inter" pitchFamily="34" charset="0"/>
                <a:ea typeface="Inter" pitchFamily="34" charset="-122"/>
                <a:cs typeface="Inter" pitchFamily="34" charset="-120"/>
              </a:rPr>
              <a:t>ベンダー依存を脱して、設計意図を自分で説明できる</a:t>
            </a:r>
            <a:endParaRPr lang="en-US" sz="1950" dirty="0"/>
          </a:p>
        </p:txBody>
      </p:sp>
      <p:sp>
        <p:nvSpPr>
          <p:cNvPr id="18" name="Shape 16"/>
          <p:cNvSpPr/>
          <p:nvPr/>
        </p:nvSpPr>
        <p:spPr>
          <a:xfrm>
            <a:off x="10009882" y="4218831"/>
            <a:ext cx="7325618" cy="745778"/>
          </a:xfrm>
          <a:prstGeom prst="rect">
            <a:avLst/>
          </a:prstGeom>
          <a:solidFill>
            <a:srgbClr val="FFFFFF"/>
          </a:solidFill>
          <a:ln/>
        </p:spPr>
      </p:sp>
      <p:sp>
        <p:nvSpPr>
          <p:cNvPr id="19" name="Shape 17"/>
          <p:cNvSpPr/>
          <p:nvPr/>
        </p:nvSpPr>
        <p:spPr>
          <a:xfrm>
            <a:off x="10009882" y="4955084"/>
            <a:ext cx="7325618" cy="9525"/>
          </a:xfrm>
          <a:prstGeom prst="rect">
            <a:avLst/>
          </a:prstGeom>
          <a:solidFill>
            <a:srgbClr val="E2E5EA"/>
          </a:solidFill>
          <a:ln/>
        </p:spPr>
      </p:sp>
      <p:sp>
        <p:nvSpPr>
          <p:cNvPr id="20" name="Shape 18"/>
          <p:cNvSpPr/>
          <p:nvPr/>
        </p:nvSpPr>
        <p:spPr>
          <a:xfrm>
            <a:off x="10009882" y="4218831"/>
            <a:ext cx="7325618" cy="9525"/>
          </a:xfrm>
          <a:prstGeom prst="rect">
            <a:avLst/>
          </a:prstGeom>
          <a:solidFill>
            <a:srgbClr val="E2E5EA"/>
          </a:solidFill>
          <a:ln/>
        </p:spPr>
      </p:sp>
      <p:sp>
        <p:nvSpPr>
          <p:cNvPr id="21" name="Shape 19"/>
          <p:cNvSpPr/>
          <p:nvPr/>
        </p:nvSpPr>
        <p:spPr>
          <a:xfrm>
            <a:off x="10009882" y="4218831"/>
            <a:ext cx="38100" cy="745778"/>
          </a:xfrm>
          <a:prstGeom prst="rect">
            <a:avLst/>
          </a:prstGeom>
          <a:solidFill>
            <a:srgbClr val="B6802A"/>
          </a:solidFill>
          <a:ln/>
        </p:spPr>
      </p:sp>
      <p:sp>
        <p:nvSpPr>
          <p:cNvPr id="22" name="Shape 20"/>
          <p:cNvSpPr/>
          <p:nvPr/>
        </p:nvSpPr>
        <p:spPr>
          <a:xfrm>
            <a:off x="17325975" y="4218831"/>
            <a:ext cx="9525" cy="745778"/>
          </a:xfrm>
          <a:prstGeom prst="rect">
            <a:avLst/>
          </a:prstGeom>
          <a:solidFill>
            <a:srgbClr val="E2E5EA"/>
          </a:solidFill>
          <a:ln/>
        </p:spPr>
      </p:sp>
      <p:sp>
        <p:nvSpPr>
          <p:cNvPr id="23" name="Text 21"/>
          <p:cNvSpPr/>
          <p:nvPr/>
        </p:nvSpPr>
        <p:spPr>
          <a:xfrm>
            <a:off x="10257532" y="4399806"/>
            <a:ext cx="7078662" cy="421928"/>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950" b="1" dirty="0">
                <a:solidFill>
                  <a:srgbClr val="B6802A"/>
                </a:solidFill>
                <a:latin typeface="Inter" pitchFamily="34" charset="0"/>
                <a:ea typeface="Inter" pitchFamily="34" charset="-122"/>
                <a:cs typeface="Inter" pitchFamily="34" charset="-120"/>
              </a:rPr>
              <a:t>02 </a:t>
            </a:r>
            <a:r>
              <a:rPr lang="en-US" sz="1950" dirty="0">
                <a:solidFill>
                  <a:srgbClr val="0E1116"/>
                </a:solidFill>
                <a:highlight>
                  <a:srgbClr val="FFFFFF"/>
                </a:highlight>
                <a:latin typeface="Inter" pitchFamily="34" charset="0"/>
                <a:ea typeface="Inter" pitchFamily="34" charset="-122"/>
                <a:cs typeface="Inter" pitchFamily="34" charset="-120"/>
              </a:rPr>
              <a:t>通信・認証・暗号化・ログを責務単位で切り分けられる</a:t>
            </a:r>
            <a:endParaRPr lang="en-US" sz="1950" dirty="0"/>
          </a:p>
        </p:txBody>
      </p:sp>
      <p:sp>
        <p:nvSpPr>
          <p:cNvPr id="24" name="Shape 22"/>
          <p:cNvSpPr/>
          <p:nvPr/>
        </p:nvSpPr>
        <p:spPr>
          <a:xfrm>
            <a:off x="10009882" y="5097959"/>
            <a:ext cx="7325618" cy="745778"/>
          </a:xfrm>
          <a:prstGeom prst="rect">
            <a:avLst/>
          </a:prstGeom>
          <a:solidFill>
            <a:srgbClr val="FFFFFF"/>
          </a:solidFill>
          <a:ln/>
        </p:spPr>
      </p:sp>
      <p:sp>
        <p:nvSpPr>
          <p:cNvPr id="25" name="Shape 23"/>
          <p:cNvSpPr/>
          <p:nvPr/>
        </p:nvSpPr>
        <p:spPr>
          <a:xfrm>
            <a:off x="10009882" y="5834211"/>
            <a:ext cx="7325618" cy="9525"/>
          </a:xfrm>
          <a:prstGeom prst="rect">
            <a:avLst/>
          </a:prstGeom>
          <a:solidFill>
            <a:srgbClr val="E2E5EA"/>
          </a:solidFill>
          <a:ln/>
        </p:spPr>
      </p:sp>
      <p:sp>
        <p:nvSpPr>
          <p:cNvPr id="26" name="Shape 24"/>
          <p:cNvSpPr/>
          <p:nvPr/>
        </p:nvSpPr>
        <p:spPr>
          <a:xfrm>
            <a:off x="10009882" y="5097959"/>
            <a:ext cx="7325618" cy="9525"/>
          </a:xfrm>
          <a:prstGeom prst="rect">
            <a:avLst/>
          </a:prstGeom>
          <a:solidFill>
            <a:srgbClr val="E2E5EA"/>
          </a:solidFill>
          <a:ln/>
        </p:spPr>
      </p:sp>
      <p:sp>
        <p:nvSpPr>
          <p:cNvPr id="27" name="Shape 25"/>
          <p:cNvSpPr/>
          <p:nvPr/>
        </p:nvSpPr>
        <p:spPr>
          <a:xfrm>
            <a:off x="10009882" y="5097959"/>
            <a:ext cx="38100" cy="745778"/>
          </a:xfrm>
          <a:prstGeom prst="rect">
            <a:avLst/>
          </a:prstGeom>
          <a:solidFill>
            <a:srgbClr val="B6802A"/>
          </a:solidFill>
          <a:ln/>
        </p:spPr>
      </p:sp>
      <p:sp>
        <p:nvSpPr>
          <p:cNvPr id="28" name="Shape 26"/>
          <p:cNvSpPr/>
          <p:nvPr/>
        </p:nvSpPr>
        <p:spPr>
          <a:xfrm>
            <a:off x="17325975" y="5097959"/>
            <a:ext cx="9525" cy="745778"/>
          </a:xfrm>
          <a:prstGeom prst="rect">
            <a:avLst/>
          </a:prstGeom>
          <a:solidFill>
            <a:srgbClr val="E2E5EA"/>
          </a:solidFill>
          <a:ln/>
        </p:spPr>
      </p:sp>
      <p:sp>
        <p:nvSpPr>
          <p:cNvPr id="29" name="Text 27"/>
          <p:cNvSpPr/>
          <p:nvPr/>
        </p:nvSpPr>
        <p:spPr>
          <a:xfrm>
            <a:off x="10257532" y="5278934"/>
            <a:ext cx="7078662" cy="421928"/>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950" b="1" dirty="0">
                <a:solidFill>
                  <a:srgbClr val="B6802A"/>
                </a:solidFill>
                <a:latin typeface="Inter" pitchFamily="34" charset="0"/>
                <a:ea typeface="Inter" pitchFamily="34" charset="-122"/>
                <a:cs typeface="Inter" pitchFamily="34" charset="-120"/>
              </a:rPr>
              <a:t>03 </a:t>
            </a:r>
            <a:r>
              <a:rPr lang="en-US" sz="1950" dirty="0">
                <a:solidFill>
                  <a:srgbClr val="0E1116"/>
                </a:solidFill>
                <a:highlight>
                  <a:srgbClr val="FFFFFF"/>
                </a:highlight>
                <a:latin typeface="Inter" pitchFamily="34" charset="0"/>
                <a:ea typeface="Inter" pitchFamily="34" charset="-122"/>
                <a:cs typeface="Inter" pitchFamily="34" charset="-120"/>
              </a:rPr>
              <a:t>知らない環境でも再現できる形に分解する</a:t>
            </a:r>
            <a:endParaRPr lang="en-US" sz="1950" dirty="0"/>
          </a:p>
        </p:txBody>
      </p:sp>
      <p:sp>
        <p:nvSpPr>
          <p:cNvPr id="30" name="Text 28"/>
          <p:cNvSpPr/>
          <p:nvPr/>
        </p:nvSpPr>
        <p:spPr>
          <a:xfrm>
            <a:off x="952500" y="9763125"/>
            <a:ext cx="2747930"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MULTIPROXY · gan2</a:t>
            </a:r>
            <a:endParaRPr lang="en-US" sz="1800" dirty="0"/>
          </a:p>
        </p:txBody>
      </p:sp>
      <p:sp>
        <p:nvSpPr>
          <p:cNvPr id="31" name="Text 29"/>
          <p:cNvSpPr/>
          <p:nvPr/>
        </p:nvSpPr>
        <p:spPr>
          <a:xfrm>
            <a:off x="9228534" y="9763125"/>
            <a:ext cx="1649164"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Background</a:t>
            </a:r>
            <a:endParaRPr lang="en-US" sz="1800" dirty="0"/>
          </a:p>
        </p:txBody>
      </p:sp>
      <p:sp>
        <p:nvSpPr>
          <p:cNvPr id="32" name="Text 30"/>
          <p:cNvSpPr/>
          <p:nvPr/>
        </p:nvSpPr>
        <p:spPr>
          <a:xfrm>
            <a:off x="16409640" y="9763125"/>
            <a:ext cx="1002060"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03/10</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6"/>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4EE"/>
          </a:solidFill>
          <a:ln/>
        </p:spPr>
      </p:sp>
      <p:sp>
        <p:nvSpPr>
          <p:cNvPr id="3" name="Shape 1"/>
          <p:cNvSpPr/>
          <p:nvPr/>
        </p:nvSpPr>
        <p:spPr>
          <a:xfrm>
            <a:off x="952500" y="1114425"/>
            <a:ext cx="476250" cy="19050"/>
          </a:xfrm>
          <a:prstGeom prst="rect">
            <a:avLst/>
          </a:prstGeom>
          <a:solidFill>
            <a:srgbClr val="C8401F"/>
          </a:solidFill>
          <a:ln/>
        </p:spPr>
      </p:sp>
      <p:sp>
        <p:nvSpPr>
          <p:cNvPr id="4" name="Text 2"/>
          <p:cNvSpPr/>
          <p:nvPr/>
        </p:nvSpPr>
        <p:spPr>
          <a:xfrm>
            <a:off x="914400" y="781050"/>
            <a:ext cx="552450" cy="333375"/>
          </a:xfrm>
          <a:prstGeom prst="rect">
            <a:avLst/>
          </a:prstGeom>
          <a:noFill/>
          <a:ln/>
        </p:spPr>
        <p:txBody>
          <a:bodyPr wrap="square" lIns="25400" tIns="25400" rIns="25400" bIns="25400" rtlCol="0" anchor="t">
            <a:normAutofit lnSpcReduction="10000"/>
          </a:bodyPr>
          <a:lstStyle/>
          <a:p>
            <a:pPr marL="0" indent="0" algn="ctr">
              <a:buNone/>
            </a:pPr>
            <a:r>
              <a:rPr lang="en-US" sz="1950" b="1" kern="0" spc="351" dirty="0">
                <a:solidFill>
                  <a:srgbClr val="C8401F"/>
                </a:solidFill>
                <a:latin typeface="Inter" pitchFamily="34" charset="0"/>
                <a:ea typeface="Inter" pitchFamily="34" charset="-122"/>
                <a:cs typeface="Inter" pitchFamily="34" charset="-120"/>
              </a:rPr>
              <a:t>03</a:t>
            </a:r>
            <a:endParaRPr lang="en-US" sz="1950" dirty="0"/>
          </a:p>
        </p:txBody>
      </p:sp>
      <p:sp>
        <p:nvSpPr>
          <p:cNvPr id="5" name="Text 3"/>
          <p:cNvSpPr/>
          <p:nvPr/>
        </p:nvSpPr>
        <p:spPr>
          <a:xfrm>
            <a:off x="1562100" y="781050"/>
            <a:ext cx="7498785" cy="390525"/>
          </a:xfrm>
          <a:prstGeom prst="rect">
            <a:avLst/>
          </a:prstGeom>
          <a:noFill/>
          <a:ln/>
        </p:spPr>
        <p:txBody>
          <a:bodyPr wrap="square" lIns="25400" tIns="25400" rIns="25400" bIns="25400" rtlCol="0" anchor="t">
            <a:normAutofit/>
          </a:bodyPr>
          <a:lstStyle/>
          <a:p>
            <a:pPr marL="0" indent="0" algn="l">
              <a:buNone/>
            </a:pPr>
            <a:r>
              <a:rPr lang="en-US" sz="1950" b="1" kern="0" spc="312" dirty="0">
                <a:solidFill>
                  <a:srgbClr val="C8401F"/>
                </a:solidFill>
                <a:latin typeface="Inter" pitchFamily="34" charset="0"/>
                <a:ea typeface="Inter" pitchFamily="34" charset="-122"/>
                <a:cs typeface="Inter" pitchFamily="34" charset="-120"/>
              </a:rPr>
              <a:t>ONE DIAGRAM — 全体構成（オンプレ相当検証環境）</a:t>
            </a:r>
            <a:endParaRPr lang="en-US" sz="1950" dirty="0"/>
          </a:p>
        </p:txBody>
      </p:sp>
      <p:sp>
        <p:nvSpPr>
          <p:cNvPr id="6" name="Shape 4"/>
          <p:cNvSpPr/>
          <p:nvPr/>
        </p:nvSpPr>
        <p:spPr>
          <a:xfrm>
            <a:off x="8975824" y="742950"/>
            <a:ext cx="1668810" cy="428625"/>
          </a:xfrm>
          <a:prstGeom prst="rect">
            <a:avLst/>
          </a:prstGeom>
          <a:solidFill>
            <a:srgbClr val="E8EFE2"/>
          </a:solidFill>
          <a:ln/>
        </p:spPr>
      </p:sp>
      <p:sp>
        <p:nvSpPr>
          <p:cNvPr id="7" name="Text 5"/>
          <p:cNvSpPr/>
          <p:nvPr/>
        </p:nvSpPr>
        <p:spPr>
          <a:xfrm>
            <a:off x="9090124" y="790575"/>
            <a:ext cx="1516410" cy="371475"/>
          </a:xfrm>
          <a:prstGeom prst="rect">
            <a:avLst/>
          </a:prstGeom>
          <a:noFill/>
          <a:ln/>
        </p:spPr>
        <p:txBody>
          <a:bodyPr wrap="square" lIns="25400" tIns="25400" rIns="25400" bIns="25400" rtlCol="0" anchor="t">
            <a:normAutofit/>
          </a:bodyPr>
          <a:lstStyle/>
          <a:p>
            <a:pPr marL="0" indent="0" algn="l">
              <a:buNone/>
            </a:pPr>
            <a:r>
              <a:rPr lang="en-US" sz="1800" b="1" kern="0" spc="90" dirty="0">
                <a:solidFill>
                  <a:srgbClr val="3F5E22"/>
                </a:solidFill>
                <a:latin typeface="Inter" pitchFamily="34" charset="0"/>
                <a:ea typeface="Inter" pitchFamily="34" charset="-122"/>
                <a:cs typeface="Inter" pitchFamily="34" charset="-120"/>
              </a:rPr>
              <a:t>実装・検証済</a:t>
            </a:r>
            <a:endParaRPr lang="en-US" sz="1800" dirty="0"/>
          </a:p>
        </p:txBody>
      </p:sp>
      <p:sp>
        <p:nvSpPr>
          <p:cNvPr id="8" name="Text 6"/>
          <p:cNvSpPr/>
          <p:nvPr/>
        </p:nvSpPr>
        <p:spPr>
          <a:xfrm>
            <a:off x="952500" y="1381125"/>
            <a:ext cx="16874490" cy="1060549"/>
          </a:xfrm>
          <a:prstGeom prst="rect">
            <a:avLst/>
          </a:prstGeom>
          <a:noFill/>
          <a:ln/>
        </p:spPr>
        <p:txBody>
          <a:bodyPr wrap="square" lIns="25400" tIns="25400" rIns="25400" bIns="25400" rtlCol="0" anchor="t">
            <a:normAutofit fontScale="92500"/>
          </a:bodyPr>
          <a:lstStyle/>
          <a:p>
            <a:pPr marL="0" indent="0" algn="l">
              <a:lnSpc>
                <a:spcPct val="122000"/>
              </a:lnSpc>
              <a:buNone/>
            </a:pPr>
            <a:r>
              <a:rPr lang="en-US" sz="3300" b="1" dirty="0">
                <a:solidFill>
                  <a:srgbClr val="0E1116"/>
                </a:solidFill>
                <a:latin typeface="Noto Serif JP" pitchFamily="34" charset="0"/>
                <a:ea typeface="Noto Serif JP" pitchFamily="34" charset="-122"/>
                <a:cs typeface="Noto Serif JP" pitchFamily="34" charset="-120"/>
              </a:rPr>
              <a:t>WSL2 + Docker Compose を中心に、VMware 上の Samba AD/DC・dnsmasq と連携。</a:t>
            </a:r>
            <a:endParaRPr lang="en-US" sz="3300" dirty="0"/>
          </a:p>
        </p:txBody>
      </p:sp>
      <p:sp>
        <p:nvSpPr>
          <p:cNvPr id="9" name="Shape 7"/>
          <p:cNvSpPr/>
          <p:nvPr/>
        </p:nvSpPr>
        <p:spPr>
          <a:xfrm>
            <a:off x="952500" y="2570262"/>
            <a:ext cx="209550" cy="209550"/>
          </a:xfrm>
          <a:prstGeom prst="ellipse">
            <a:avLst/>
          </a:prstGeom>
          <a:solidFill>
            <a:srgbClr val="1F4E79"/>
          </a:solidFill>
          <a:ln/>
        </p:spPr>
      </p:sp>
      <p:sp>
        <p:nvSpPr>
          <p:cNvPr id="10" name="Text 8"/>
          <p:cNvSpPr/>
          <p:nvPr/>
        </p:nvSpPr>
        <p:spPr>
          <a:xfrm>
            <a:off x="914400" y="2570262"/>
            <a:ext cx="285750" cy="247650"/>
          </a:xfrm>
          <a:prstGeom prst="rect">
            <a:avLst/>
          </a:prstGeom>
          <a:noFill/>
          <a:ln/>
        </p:spPr>
        <p:txBody>
          <a:bodyPr wrap="square" lIns="25400" tIns="25400" rIns="25400" bIns="25400" rtlCol="0" anchor="t">
            <a:normAutofit fontScale="92500" lnSpcReduction="20000"/>
          </a:bodyPr>
          <a:lstStyle/>
          <a:p>
            <a:pPr marL="0" indent="0" algn="ctr">
              <a:lnSpc>
                <a:spcPct val="157143"/>
              </a:lnSpc>
              <a:buNone/>
            </a:pPr>
            <a:r>
              <a:rPr lang="en-US" sz="1050" b="1" dirty="0">
                <a:solidFill>
                  <a:srgbClr val="FFFFFF"/>
                </a:solidFill>
                <a:latin typeface="Inter" pitchFamily="34" charset="0"/>
                <a:ea typeface="Inter" pitchFamily="34" charset="-122"/>
                <a:cs typeface="Inter" pitchFamily="34" charset="-120"/>
              </a:rPr>
              <a:t>✓</a:t>
            </a:r>
            <a:endParaRPr lang="en-US" sz="1050" dirty="0"/>
          </a:p>
        </p:txBody>
      </p:sp>
      <p:sp>
        <p:nvSpPr>
          <p:cNvPr id="11" name="Text 9"/>
          <p:cNvSpPr/>
          <p:nvPr/>
        </p:nvSpPr>
        <p:spPr>
          <a:xfrm>
            <a:off x="1257300" y="2498824"/>
            <a:ext cx="7727192"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1F4E79"/>
                </a:solidFill>
                <a:latin typeface="Inter" pitchFamily="34" charset="0"/>
                <a:ea typeface="Inter" pitchFamily="34" charset="-122"/>
                <a:cs typeface="Inter" pitchFamily="34" charset="-120"/>
              </a:rPr>
              <a:t>システム全体像を1枚で説明でき、各構成要素の責任範囲を言える。</a:t>
            </a:r>
            <a:endParaRPr lang="en-US" sz="1950" dirty="0"/>
          </a:p>
        </p:txBody>
      </p:sp>
      <p:sp>
        <p:nvSpPr>
          <p:cNvPr id="12" name="Shape 10"/>
          <p:cNvSpPr/>
          <p:nvPr/>
        </p:nvSpPr>
        <p:spPr>
          <a:xfrm>
            <a:off x="952500" y="2984599"/>
            <a:ext cx="16383000" cy="6254651"/>
          </a:xfrm>
          <a:prstGeom prst="rect">
            <a:avLst/>
          </a:prstGeom>
          <a:solidFill>
            <a:srgbClr val="FFFFFF"/>
          </a:solidFill>
          <a:ln w="9525">
            <a:solidFill>
              <a:srgbClr val="E2E5EA"/>
            </a:solidFill>
            <a:prstDash val="solid"/>
          </a:ln>
        </p:spPr>
      </p:sp>
      <p:pic>
        <p:nvPicPr>
          <p:cNvPr id="13" name="Image 0" descr="preencoded.png"/>
          <p:cNvPicPr>
            <a:picLocks noChangeAspect="1"/>
          </p:cNvPicPr>
          <p:nvPr/>
        </p:nvPicPr>
        <p:blipFill>
          <a:blip r:embed="rId3"/>
          <a:stretch>
            <a:fillRect/>
          </a:stretch>
        </p:blipFill>
        <p:spPr>
          <a:xfrm>
            <a:off x="1133475" y="3127474"/>
            <a:ext cx="16021050" cy="5968901"/>
          </a:xfrm>
          <a:prstGeom prst="rect">
            <a:avLst/>
          </a:prstGeom>
        </p:spPr>
      </p:pic>
      <p:sp>
        <p:nvSpPr>
          <p:cNvPr id="14" name="Text 11"/>
          <p:cNvSpPr/>
          <p:nvPr/>
        </p:nvSpPr>
        <p:spPr>
          <a:xfrm>
            <a:off x="952500" y="9763125"/>
            <a:ext cx="2747930"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MULTIPROXY · gan2</a:t>
            </a:r>
            <a:endParaRPr lang="en-US" sz="1800" dirty="0"/>
          </a:p>
        </p:txBody>
      </p:sp>
      <p:sp>
        <p:nvSpPr>
          <p:cNvPr id="15" name="Text 12"/>
          <p:cNvSpPr/>
          <p:nvPr/>
        </p:nvSpPr>
        <p:spPr>
          <a:xfrm>
            <a:off x="9210973" y="9763125"/>
            <a:ext cx="1678037"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Onprem Env</a:t>
            </a:r>
            <a:endParaRPr lang="en-US" sz="1800" dirty="0"/>
          </a:p>
        </p:txBody>
      </p:sp>
      <p:sp>
        <p:nvSpPr>
          <p:cNvPr id="16" name="Text 13"/>
          <p:cNvSpPr/>
          <p:nvPr/>
        </p:nvSpPr>
        <p:spPr>
          <a:xfrm>
            <a:off x="16403241" y="9763125"/>
            <a:ext cx="1008459"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04/10</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6"/>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4EE"/>
          </a:solidFill>
          <a:ln/>
        </p:spPr>
      </p:sp>
      <p:sp>
        <p:nvSpPr>
          <p:cNvPr id="3" name="Shape 1"/>
          <p:cNvSpPr/>
          <p:nvPr/>
        </p:nvSpPr>
        <p:spPr>
          <a:xfrm>
            <a:off x="952500" y="1114425"/>
            <a:ext cx="476250" cy="19050"/>
          </a:xfrm>
          <a:prstGeom prst="rect">
            <a:avLst/>
          </a:prstGeom>
          <a:solidFill>
            <a:srgbClr val="C8401F"/>
          </a:solidFill>
          <a:ln/>
        </p:spPr>
      </p:sp>
      <p:sp>
        <p:nvSpPr>
          <p:cNvPr id="4" name="Text 2"/>
          <p:cNvSpPr/>
          <p:nvPr/>
        </p:nvSpPr>
        <p:spPr>
          <a:xfrm>
            <a:off x="914400" y="781050"/>
            <a:ext cx="552450" cy="333375"/>
          </a:xfrm>
          <a:prstGeom prst="rect">
            <a:avLst/>
          </a:prstGeom>
          <a:noFill/>
          <a:ln/>
        </p:spPr>
        <p:txBody>
          <a:bodyPr wrap="square" lIns="25400" tIns="25400" rIns="25400" bIns="25400" rtlCol="0" anchor="t">
            <a:normAutofit lnSpcReduction="10000"/>
          </a:bodyPr>
          <a:lstStyle/>
          <a:p>
            <a:pPr marL="0" indent="0" algn="ctr">
              <a:buNone/>
            </a:pPr>
            <a:r>
              <a:rPr lang="en-US" sz="1950" b="1" kern="0" spc="351" dirty="0">
                <a:solidFill>
                  <a:srgbClr val="C8401F"/>
                </a:solidFill>
                <a:latin typeface="Inter" pitchFamily="34" charset="0"/>
                <a:ea typeface="Inter" pitchFamily="34" charset="-122"/>
                <a:cs typeface="Inter" pitchFamily="34" charset="-120"/>
              </a:rPr>
              <a:t>04</a:t>
            </a:r>
            <a:endParaRPr lang="en-US" sz="1950" dirty="0"/>
          </a:p>
        </p:txBody>
      </p:sp>
      <p:sp>
        <p:nvSpPr>
          <p:cNvPr id="5" name="Text 3"/>
          <p:cNvSpPr/>
          <p:nvPr/>
        </p:nvSpPr>
        <p:spPr>
          <a:xfrm>
            <a:off x="1562100" y="781050"/>
            <a:ext cx="4277487" cy="390525"/>
          </a:xfrm>
          <a:prstGeom prst="rect">
            <a:avLst/>
          </a:prstGeom>
          <a:noFill/>
          <a:ln/>
        </p:spPr>
        <p:txBody>
          <a:bodyPr wrap="square" lIns="25400" tIns="25400" rIns="25400" bIns="25400" rtlCol="0" anchor="t">
            <a:normAutofit/>
          </a:bodyPr>
          <a:lstStyle/>
          <a:p>
            <a:pPr marL="0" indent="0" algn="l">
              <a:buNone/>
            </a:pPr>
            <a:r>
              <a:rPr lang="en-US" sz="1950" b="1" kern="0" spc="312" dirty="0">
                <a:solidFill>
                  <a:srgbClr val="C8401F"/>
                </a:solidFill>
                <a:latin typeface="Inter" pitchFamily="34" charset="0"/>
                <a:ea typeface="Inter" pitchFamily="34" charset="-122"/>
                <a:cs typeface="Inter" pitchFamily="34" charset="-120"/>
              </a:rPr>
              <a:t>3-STAGE PROXY — 責務分離</a:t>
            </a:r>
            <a:endParaRPr lang="en-US" sz="1950" dirty="0"/>
          </a:p>
        </p:txBody>
      </p:sp>
      <p:sp>
        <p:nvSpPr>
          <p:cNvPr id="6" name="Shape 4"/>
          <p:cNvSpPr/>
          <p:nvPr/>
        </p:nvSpPr>
        <p:spPr>
          <a:xfrm>
            <a:off x="5848350" y="742950"/>
            <a:ext cx="1668810" cy="428625"/>
          </a:xfrm>
          <a:prstGeom prst="rect">
            <a:avLst/>
          </a:prstGeom>
          <a:solidFill>
            <a:srgbClr val="E8EFE2"/>
          </a:solidFill>
          <a:ln/>
        </p:spPr>
      </p:sp>
      <p:sp>
        <p:nvSpPr>
          <p:cNvPr id="7" name="Text 5"/>
          <p:cNvSpPr/>
          <p:nvPr/>
        </p:nvSpPr>
        <p:spPr>
          <a:xfrm>
            <a:off x="5962650" y="790575"/>
            <a:ext cx="1516410" cy="371475"/>
          </a:xfrm>
          <a:prstGeom prst="rect">
            <a:avLst/>
          </a:prstGeom>
          <a:noFill/>
          <a:ln/>
        </p:spPr>
        <p:txBody>
          <a:bodyPr wrap="square" lIns="25400" tIns="25400" rIns="25400" bIns="25400" rtlCol="0" anchor="t">
            <a:normAutofit/>
          </a:bodyPr>
          <a:lstStyle/>
          <a:p>
            <a:pPr marL="0" indent="0" algn="l">
              <a:buNone/>
            </a:pPr>
            <a:r>
              <a:rPr lang="en-US" sz="1800" b="1" kern="0" spc="90" dirty="0">
                <a:solidFill>
                  <a:srgbClr val="3F5E22"/>
                </a:solidFill>
                <a:latin typeface="Inter" pitchFamily="34" charset="0"/>
                <a:ea typeface="Inter" pitchFamily="34" charset="-122"/>
                <a:cs typeface="Inter" pitchFamily="34" charset="-120"/>
              </a:rPr>
              <a:t>実装・検証済</a:t>
            </a:r>
            <a:endParaRPr lang="en-US" sz="1800" dirty="0"/>
          </a:p>
        </p:txBody>
      </p:sp>
      <p:sp>
        <p:nvSpPr>
          <p:cNvPr id="8" name="Text 6"/>
          <p:cNvSpPr/>
          <p:nvPr/>
        </p:nvSpPr>
        <p:spPr>
          <a:xfrm>
            <a:off x="952500" y="1381125"/>
            <a:ext cx="16874490" cy="549325"/>
          </a:xfrm>
          <a:prstGeom prst="rect">
            <a:avLst/>
          </a:prstGeom>
          <a:noFill/>
          <a:ln/>
        </p:spPr>
        <p:txBody>
          <a:bodyPr wrap="square" lIns="25400" tIns="25400" rIns="25400" bIns="25400" rtlCol="0" anchor="t">
            <a:normAutofit fontScale="92500" lnSpcReduction="20000"/>
          </a:bodyPr>
          <a:lstStyle/>
          <a:p>
            <a:pPr marL="0" indent="0" algn="l">
              <a:lnSpc>
                <a:spcPct val="122000"/>
              </a:lnSpc>
              <a:buNone/>
            </a:pPr>
            <a:r>
              <a:rPr lang="en-US" sz="3300" b="1" dirty="0">
                <a:solidFill>
                  <a:srgbClr val="0E1116"/>
                </a:solidFill>
                <a:latin typeface="Noto Serif JP" pitchFamily="34" charset="0"/>
                <a:ea typeface="Noto Serif JP" pitchFamily="34" charset="-122"/>
                <a:cs typeface="Noto Serif JP" pitchFamily="34" charset="-120"/>
              </a:rPr>
              <a:t>SSLBump は経路の入口で1回。経路ごとに復号する Proxy を分けた。</a:t>
            </a:r>
            <a:endParaRPr lang="en-US" sz="3300" dirty="0"/>
          </a:p>
        </p:txBody>
      </p:sp>
      <p:sp>
        <p:nvSpPr>
          <p:cNvPr id="9" name="Shape 7"/>
          <p:cNvSpPr/>
          <p:nvPr/>
        </p:nvSpPr>
        <p:spPr>
          <a:xfrm>
            <a:off x="952500" y="2059037"/>
            <a:ext cx="209550" cy="209550"/>
          </a:xfrm>
          <a:prstGeom prst="ellipse">
            <a:avLst/>
          </a:prstGeom>
          <a:solidFill>
            <a:srgbClr val="1F4E79"/>
          </a:solidFill>
          <a:ln/>
        </p:spPr>
      </p:sp>
      <p:sp>
        <p:nvSpPr>
          <p:cNvPr id="10" name="Text 8"/>
          <p:cNvSpPr/>
          <p:nvPr/>
        </p:nvSpPr>
        <p:spPr>
          <a:xfrm>
            <a:off x="914400" y="2059037"/>
            <a:ext cx="285750" cy="247650"/>
          </a:xfrm>
          <a:prstGeom prst="rect">
            <a:avLst/>
          </a:prstGeom>
          <a:noFill/>
          <a:ln/>
        </p:spPr>
        <p:txBody>
          <a:bodyPr wrap="square" lIns="25400" tIns="25400" rIns="25400" bIns="25400" rtlCol="0" anchor="t">
            <a:normAutofit fontScale="92500" lnSpcReduction="20000"/>
          </a:bodyPr>
          <a:lstStyle/>
          <a:p>
            <a:pPr marL="0" indent="0" algn="ctr">
              <a:lnSpc>
                <a:spcPct val="157143"/>
              </a:lnSpc>
              <a:buNone/>
            </a:pPr>
            <a:r>
              <a:rPr lang="en-US" sz="1050" b="1" dirty="0">
                <a:solidFill>
                  <a:srgbClr val="FFFFFF"/>
                </a:solidFill>
                <a:latin typeface="Inter" pitchFamily="34" charset="0"/>
                <a:ea typeface="Inter" pitchFamily="34" charset="-122"/>
                <a:cs typeface="Inter" pitchFamily="34" charset="-120"/>
              </a:rPr>
              <a:t>✓</a:t>
            </a:r>
            <a:endParaRPr lang="en-US" sz="1050" dirty="0"/>
          </a:p>
        </p:txBody>
      </p:sp>
      <p:sp>
        <p:nvSpPr>
          <p:cNvPr id="11" name="Text 9"/>
          <p:cNvSpPr/>
          <p:nvPr/>
        </p:nvSpPr>
        <p:spPr>
          <a:xfrm>
            <a:off x="1257300" y="1987600"/>
            <a:ext cx="9376778"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1F4E79"/>
                </a:solidFill>
                <a:latin typeface="Inter" pitchFamily="34" charset="0"/>
                <a:ea typeface="Inter" pitchFamily="34" charset="-122"/>
                <a:cs typeface="Inter" pitchFamily="34" charset="-120"/>
              </a:rPr>
              <a:t>SSLBump の仕様制約（1通信経路1回）を理解し、経路ごとに責務を分けられる。</a:t>
            </a:r>
            <a:endParaRPr lang="en-US" sz="1950" dirty="0"/>
          </a:p>
        </p:txBody>
      </p:sp>
      <p:sp>
        <p:nvSpPr>
          <p:cNvPr id="12" name="Shape 10"/>
          <p:cNvSpPr/>
          <p:nvPr/>
        </p:nvSpPr>
        <p:spPr>
          <a:xfrm>
            <a:off x="952500" y="2473375"/>
            <a:ext cx="8105775" cy="6765875"/>
          </a:xfrm>
          <a:prstGeom prst="rect">
            <a:avLst/>
          </a:prstGeom>
          <a:solidFill>
            <a:srgbClr val="FFFFFF"/>
          </a:solidFill>
          <a:ln w="9525">
            <a:solidFill>
              <a:srgbClr val="E2E5EA"/>
            </a:solidFill>
            <a:prstDash val="solid"/>
          </a:ln>
        </p:spPr>
      </p:sp>
      <p:sp>
        <p:nvSpPr>
          <p:cNvPr id="14" name="Shape 11"/>
          <p:cNvSpPr/>
          <p:nvPr/>
        </p:nvSpPr>
        <p:spPr>
          <a:xfrm>
            <a:off x="9229725" y="2473375"/>
            <a:ext cx="8105775" cy="1238250"/>
          </a:xfrm>
          <a:prstGeom prst="rect">
            <a:avLst/>
          </a:prstGeom>
          <a:solidFill>
            <a:srgbClr val="FFF8F2"/>
          </a:solidFill>
          <a:ln/>
        </p:spPr>
      </p:sp>
      <p:sp>
        <p:nvSpPr>
          <p:cNvPr id="15" name="Shape 12"/>
          <p:cNvSpPr/>
          <p:nvPr/>
        </p:nvSpPr>
        <p:spPr>
          <a:xfrm>
            <a:off x="9229725" y="3702100"/>
            <a:ext cx="8105775" cy="9525"/>
          </a:xfrm>
          <a:prstGeom prst="rect">
            <a:avLst/>
          </a:prstGeom>
          <a:solidFill>
            <a:srgbClr val="C8401F">
              <a:alpha val="33000"/>
            </a:srgbClr>
          </a:solidFill>
          <a:ln/>
        </p:spPr>
      </p:sp>
      <p:sp>
        <p:nvSpPr>
          <p:cNvPr id="16" name="Shape 13"/>
          <p:cNvSpPr/>
          <p:nvPr/>
        </p:nvSpPr>
        <p:spPr>
          <a:xfrm>
            <a:off x="9229725" y="2473375"/>
            <a:ext cx="8105775" cy="9525"/>
          </a:xfrm>
          <a:prstGeom prst="rect">
            <a:avLst/>
          </a:prstGeom>
          <a:solidFill>
            <a:srgbClr val="C8401F">
              <a:alpha val="33000"/>
            </a:srgbClr>
          </a:solidFill>
          <a:ln/>
        </p:spPr>
      </p:sp>
      <p:sp>
        <p:nvSpPr>
          <p:cNvPr id="17" name="Shape 14"/>
          <p:cNvSpPr/>
          <p:nvPr/>
        </p:nvSpPr>
        <p:spPr>
          <a:xfrm>
            <a:off x="9229725" y="2473375"/>
            <a:ext cx="47625" cy="1238250"/>
          </a:xfrm>
          <a:prstGeom prst="rect">
            <a:avLst/>
          </a:prstGeom>
          <a:solidFill>
            <a:srgbClr val="C8401F"/>
          </a:solidFill>
          <a:ln/>
        </p:spPr>
      </p:sp>
      <p:sp>
        <p:nvSpPr>
          <p:cNvPr id="18" name="Shape 15"/>
          <p:cNvSpPr/>
          <p:nvPr/>
        </p:nvSpPr>
        <p:spPr>
          <a:xfrm>
            <a:off x="17325975" y="2473375"/>
            <a:ext cx="9525" cy="1238250"/>
          </a:xfrm>
          <a:prstGeom prst="rect">
            <a:avLst/>
          </a:prstGeom>
          <a:solidFill>
            <a:srgbClr val="C8401F">
              <a:alpha val="33000"/>
            </a:srgbClr>
          </a:solidFill>
          <a:ln/>
        </p:spPr>
      </p:sp>
      <p:sp>
        <p:nvSpPr>
          <p:cNvPr id="19" name="Text 16"/>
          <p:cNvSpPr/>
          <p:nvPr/>
        </p:nvSpPr>
        <p:spPr>
          <a:xfrm>
            <a:off x="9429750" y="2597200"/>
            <a:ext cx="7976140"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78" dirty="0">
                <a:solidFill>
                  <a:srgbClr val="C8401F"/>
                </a:solidFill>
                <a:latin typeface="Inter" pitchFamily="34" charset="0"/>
                <a:ea typeface="Inter" pitchFamily="34" charset="-122"/>
                <a:cs typeface="Inter" pitchFamily="34" charset="-120"/>
              </a:rPr>
              <a:t>Proxy1</a:t>
            </a:r>
            <a:endParaRPr lang="en-US" sz="1950" dirty="0"/>
          </a:p>
        </p:txBody>
      </p:sp>
      <p:sp>
        <p:nvSpPr>
          <p:cNvPr id="20" name="Text 17"/>
          <p:cNvSpPr/>
          <p:nvPr/>
        </p:nvSpPr>
        <p:spPr>
          <a:xfrm>
            <a:off x="9429750" y="2911525"/>
            <a:ext cx="7976140"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0E1116"/>
                </a:solidFill>
                <a:latin typeface="Inter" pitchFamily="34" charset="0"/>
                <a:ea typeface="Inter" pitchFamily="34" charset="-122"/>
                <a:cs typeface="Inter" pitchFamily="34" charset="-120"/>
              </a:rPr>
              <a:t>入口・認証・復号点</a:t>
            </a:r>
            <a:endParaRPr lang="en-US" sz="1950" dirty="0"/>
          </a:p>
        </p:txBody>
      </p:sp>
      <p:sp>
        <p:nvSpPr>
          <p:cNvPr id="21" name="Text 18"/>
          <p:cNvSpPr/>
          <p:nvPr/>
        </p:nvSpPr>
        <p:spPr>
          <a:xfrm>
            <a:off x="9429750" y="3302050"/>
            <a:ext cx="7976140"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dirty="0">
                <a:solidFill>
                  <a:srgbClr val="3A414A"/>
                </a:solidFill>
                <a:latin typeface="Inter" pitchFamily="34" charset="0"/>
                <a:ea typeface="Inter" pitchFamily="34" charset="-122"/>
                <a:cs typeface="Inter" pitchFamily="34" charset="-120"/>
              </a:rPr>
              <a:t>Proxy1 → Proxy2 系の経路で SSLBump を実施</a:t>
            </a:r>
            <a:endParaRPr lang="en-US" sz="1500" dirty="0"/>
          </a:p>
        </p:txBody>
      </p:sp>
      <p:sp>
        <p:nvSpPr>
          <p:cNvPr id="22" name="Shape 19"/>
          <p:cNvSpPr/>
          <p:nvPr/>
        </p:nvSpPr>
        <p:spPr>
          <a:xfrm>
            <a:off x="9229725" y="3806875"/>
            <a:ext cx="8105775" cy="1238250"/>
          </a:xfrm>
          <a:prstGeom prst="rect">
            <a:avLst/>
          </a:prstGeom>
          <a:solidFill>
            <a:srgbClr val="F0F4F8"/>
          </a:solidFill>
          <a:ln/>
        </p:spPr>
      </p:sp>
      <p:sp>
        <p:nvSpPr>
          <p:cNvPr id="23" name="Shape 20"/>
          <p:cNvSpPr/>
          <p:nvPr/>
        </p:nvSpPr>
        <p:spPr>
          <a:xfrm>
            <a:off x="9229725" y="5035600"/>
            <a:ext cx="8105775" cy="9525"/>
          </a:xfrm>
          <a:prstGeom prst="rect">
            <a:avLst/>
          </a:prstGeom>
          <a:solidFill>
            <a:srgbClr val="1F4E79">
              <a:alpha val="33000"/>
            </a:srgbClr>
          </a:solidFill>
          <a:ln/>
        </p:spPr>
      </p:sp>
      <p:sp>
        <p:nvSpPr>
          <p:cNvPr id="24" name="Shape 21"/>
          <p:cNvSpPr/>
          <p:nvPr/>
        </p:nvSpPr>
        <p:spPr>
          <a:xfrm>
            <a:off x="9229725" y="3806875"/>
            <a:ext cx="8105775" cy="9525"/>
          </a:xfrm>
          <a:prstGeom prst="rect">
            <a:avLst/>
          </a:prstGeom>
          <a:solidFill>
            <a:srgbClr val="1F4E79">
              <a:alpha val="33000"/>
            </a:srgbClr>
          </a:solidFill>
          <a:ln/>
        </p:spPr>
      </p:sp>
      <p:sp>
        <p:nvSpPr>
          <p:cNvPr id="25" name="Shape 22"/>
          <p:cNvSpPr/>
          <p:nvPr/>
        </p:nvSpPr>
        <p:spPr>
          <a:xfrm>
            <a:off x="9229725" y="3806875"/>
            <a:ext cx="47625" cy="1238250"/>
          </a:xfrm>
          <a:prstGeom prst="rect">
            <a:avLst/>
          </a:prstGeom>
          <a:solidFill>
            <a:srgbClr val="1F4E79"/>
          </a:solidFill>
          <a:ln/>
        </p:spPr>
      </p:sp>
      <p:sp>
        <p:nvSpPr>
          <p:cNvPr id="26" name="Shape 23"/>
          <p:cNvSpPr/>
          <p:nvPr/>
        </p:nvSpPr>
        <p:spPr>
          <a:xfrm>
            <a:off x="17325975" y="3806875"/>
            <a:ext cx="9525" cy="1238250"/>
          </a:xfrm>
          <a:prstGeom prst="rect">
            <a:avLst/>
          </a:prstGeom>
          <a:solidFill>
            <a:srgbClr val="1F4E79">
              <a:alpha val="33000"/>
            </a:srgbClr>
          </a:solidFill>
          <a:ln/>
        </p:spPr>
      </p:sp>
      <p:sp>
        <p:nvSpPr>
          <p:cNvPr id="27" name="Text 24"/>
          <p:cNvSpPr/>
          <p:nvPr/>
        </p:nvSpPr>
        <p:spPr>
          <a:xfrm>
            <a:off x="9429750" y="3930700"/>
            <a:ext cx="7976140"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78" dirty="0">
                <a:solidFill>
                  <a:srgbClr val="1F4E79"/>
                </a:solidFill>
                <a:latin typeface="Inter" pitchFamily="34" charset="0"/>
                <a:ea typeface="Inter" pitchFamily="34" charset="-122"/>
                <a:cs typeface="Inter" pitchFamily="34" charset="-120"/>
              </a:rPr>
              <a:t>Proxy2</a:t>
            </a:r>
            <a:endParaRPr lang="en-US" sz="1950" dirty="0"/>
          </a:p>
        </p:txBody>
      </p:sp>
      <p:sp>
        <p:nvSpPr>
          <p:cNvPr id="28" name="Text 25"/>
          <p:cNvSpPr/>
          <p:nvPr/>
        </p:nvSpPr>
        <p:spPr>
          <a:xfrm>
            <a:off x="9429750" y="4245025"/>
            <a:ext cx="7976140"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0E1116"/>
                </a:solidFill>
                <a:latin typeface="Inter" pitchFamily="34" charset="0"/>
                <a:ea typeface="Inter" pitchFamily="34" charset="-122"/>
                <a:cs typeface="Inter" pitchFamily="34" charset="-120"/>
              </a:rPr>
              <a:t>分岐・ACL・一部経路の復号点</a:t>
            </a:r>
            <a:endParaRPr lang="en-US" sz="1950" dirty="0"/>
          </a:p>
        </p:txBody>
      </p:sp>
      <p:sp>
        <p:nvSpPr>
          <p:cNvPr id="29" name="Text 26"/>
          <p:cNvSpPr/>
          <p:nvPr/>
        </p:nvSpPr>
        <p:spPr>
          <a:xfrm>
            <a:off x="9429750" y="4635550"/>
            <a:ext cx="7976140"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dirty="0">
                <a:solidFill>
                  <a:srgbClr val="3A414A"/>
                </a:solidFill>
                <a:latin typeface="Inter" pitchFamily="34" charset="0"/>
                <a:ea typeface="Inter" pitchFamily="34" charset="-122"/>
                <a:cs typeface="Inter" pitchFamily="34" charset="-120"/>
              </a:rPr>
              <a:t>Proxy2 へ直接入る経路で SSLBump を実施</a:t>
            </a:r>
            <a:endParaRPr lang="en-US" sz="1500" dirty="0"/>
          </a:p>
        </p:txBody>
      </p:sp>
      <p:sp>
        <p:nvSpPr>
          <p:cNvPr id="30" name="Shape 27"/>
          <p:cNvSpPr/>
          <p:nvPr/>
        </p:nvSpPr>
        <p:spPr>
          <a:xfrm>
            <a:off x="9229725" y="5140375"/>
            <a:ext cx="8105775" cy="1238250"/>
          </a:xfrm>
          <a:prstGeom prst="rect">
            <a:avLst/>
          </a:prstGeom>
          <a:solidFill>
            <a:srgbClr val="F4F1EA"/>
          </a:solidFill>
          <a:ln/>
        </p:spPr>
      </p:sp>
      <p:sp>
        <p:nvSpPr>
          <p:cNvPr id="31" name="Shape 28"/>
          <p:cNvSpPr/>
          <p:nvPr/>
        </p:nvSpPr>
        <p:spPr>
          <a:xfrm>
            <a:off x="9229725" y="6369100"/>
            <a:ext cx="8105775" cy="9525"/>
          </a:xfrm>
          <a:prstGeom prst="rect">
            <a:avLst/>
          </a:prstGeom>
          <a:solidFill>
            <a:srgbClr val="6B7B3A">
              <a:alpha val="33000"/>
            </a:srgbClr>
          </a:solidFill>
          <a:ln/>
        </p:spPr>
      </p:sp>
      <p:sp>
        <p:nvSpPr>
          <p:cNvPr id="32" name="Shape 29"/>
          <p:cNvSpPr/>
          <p:nvPr/>
        </p:nvSpPr>
        <p:spPr>
          <a:xfrm>
            <a:off x="9229725" y="5140375"/>
            <a:ext cx="8105775" cy="9525"/>
          </a:xfrm>
          <a:prstGeom prst="rect">
            <a:avLst/>
          </a:prstGeom>
          <a:solidFill>
            <a:srgbClr val="6B7B3A">
              <a:alpha val="33000"/>
            </a:srgbClr>
          </a:solidFill>
          <a:ln/>
        </p:spPr>
      </p:sp>
      <p:sp>
        <p:nvSpPr>
          <p:cNvPr id="33" name="Shape 30"/>
          <p:cNvSpPr/>
          <p:nvPr/>
        </p:nvSpPr>
        <p:spPr>
          <a:xfrm>
            <a:off x="9229725" y="5140375"/>
            <a:ext cx="47625" cy="1238250"/>
          </a:xfrm>
          <a:prstGeom prst="rect">
            <a:avLst/>
          </a:prstGeom>
          <a:solidFill>
            <a:srgbClr val="6B7B3A"/>
          </a:solidFill>
          <a:ln/>
        </p:spPr>
      </p:sp>
      <p:sp>
        <p:nvSpPr>
          <p:cNvPr id="34" name="Shape 31"/>
          <p:cNvSpPr/>
          <p:nvPr/>
        </p:nvSpPr>
        <p:spPr>
          <a:xfrm>
            <a:off x="17325975" y="5140375"/>
            <a:ext cx="9525" cy="1238250"/>
          </a:xfrm>
          <a:prstGeom prst="rect">
            <a:avLst/>
          </a:prstGeom>
          <a:solidFill>
            <a:srgbClr val="6B7B3A">
              <a:alpha val="33000"/>
            </a:srgbClr>
          </a:solidFill>
          <a:ln/>
        </p:spPr>
      </p:sp>
      <p:sp>
        <p:nvSpPr>
          <p:cNvPr id="35" name="Text 32"/>
          <p:cNvSpPr/>
          <p:nvPr/>
        </p:nvSpPr>
        <p:spPr>
          <a:xfrm>
            <a:off x="9429750" y="5264200"/>
            <a:ext cx="7976140"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78" dirty="0">
                <a:solidFill>
                  <a:srgbClr val="6B7B3A"/>
                </a:solidFill>
                <a:latin typeface="Inter" pitchFamily="34" charset="0"/>
                <a:ea typeface="Inter" pitchFamily="34" charset="-122"/>
                <a:cs typeface="Inter" pitchFamily="34" charset="-120"/>
              </a:rPr>
              <a:t>Proxy3</a:t>
            </a:r>
            <a:endParaRPr lang="en-US" sz="1950" dirty="0"/>
          </a:p>
        </p:txBody>
      </p:sp>
      <p:sp>
        <p:nvSpPr>
          <p:cNvPr id="36" name="Text 33"/>
          <p:cNvSpPr/>
          <p:nvPr/>
        </p:nvSpPr>
        <p:spPr>
          <a:xfrm>
            <a:off x="9429750" y="5578525"/>
            <a:ext cx="7976140"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0E1116"/>
                </a:solidFill>
                <a:latin typeface="Inter" pitchFamily="34" charset="0"/>
                <a:ea typeface="Inter" pitchFamily="34" charset="-122"/>
                <a:cs typeface="Inter" pitchFamily="34" charset="-120"/>
              </a:rPr>
              <a:t>出口</a:t>
            </a:r>
            <a:endParaRPr lang="en-US" sz="1950" dirty="0"/>
          </a:p>
        </p:txBody>
      </p:sp>
      <p:sp>
        <p:nvSpPr>
          <p:cNvPr id="37" name="Text 34"/>
          <p:cNvSpPr/>
          <p:nvPr/>
        </p:nvSpPr>
        <p:spPr>
          <a:xfrm>
            <a:off x="9429750" y="5969050"/>
            <a:ext cx="7976140"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dirty="0">
                <a:solidFill>
                  <a:srgbClr val="3A414A"/>
                </a:solidFill>
                <a:latin typeface="Inter" pitchFamily="34" charset="0"/>
                <a:ea typeface="Inter" pitchFamily="34" charset="-122"/>
                <a:cs typeface="Inter" pitchFamily="34" charset="-120"/>
              </a:rPr>
              <a:t>最終 ACL / 送信制御。SSLBump は実施しない。</a:t>
            </a:r>
            <a:endParaRPr lang="en-US" sz="1500" dirty="0"/>
          </a:p>
        </p:txBody>
      </p:sp>
      <p:sp>
        <p:nvSpPr>
          <p:cNvPr id="38" name="Shape 35"/>
          <p:cNvSpPr/>
          <p:nvPr/>
        </p:nvSpPr>
        <p:spPr>
          <a:xfrm>
            <a:off x="9229725" y="6473875"/>
            <a:ext cx="8105775" cy="819150"/>
          </a:xfrm>
          <a:prstGeom prst="rect">
            <a:avLst/>
          </a:prstGeom>
          <a:solidFill>
            <a:srgbClr val="FFF8F2"/>
          </a:solidFill>
          <a:ln w="9525">
            <a:solidFill>
              <a:srgbClr val="C8401F">
                <a:alpha val="20000"/>
              </a:srgbClr>
            </a:solidFill>
            <a:prstDash val="solid"/>
          </a:ln>
        </p:spPr>
      </p:sp>
      <p:sp>
        <p:nvSpPr>
          <p:cNvPr id="39" name="Text 36"/>
          <p:cNvSpPr/>
          <p:nvPr/>
        </p:nvSpPr>
        <p:spPr>
          <a:xfrm>
            <a:off x="9372600" y="6578650"/>
            <a:ext cx="8063198" cy="647700"/>
          </a:xfrm>
          <a:prstGeom prst="rect">
            <a:avLst/>
          </a:prstGeom>
          <a:noFill/>
          <a:ln/>
        </p:spPr>
        <p:txBody>
          <a:bodyPr wrap="square" lIns="25400" tIns="25400" rIns="25400" bIns="25400" rtlCol="0" anchor="t">
            <a:normAutofit fontScale="92500" lnSpcReduction="20000"/>
          </a:bodyPr>
          <a:lstStyle/>
          <a:p>
            <a:pPr marL="0" indent="0" algn="l">
              <a:lnSpc>
                <a:spcPct val="160000"/>
              </a:lnSpc>
              <a:buNone/>
            </a:pPr>
            <a:r>
              <a:rPr lang="en-US" sz="1500" dirty="0">
                <a:solidFill>
                  <a:srgbClr val="3A414A"/>
                </a:solidFill>
                <a:latin typeface="Inter" pitchFamily="34" charset="0"/>
                <a:ea typeface="Inter" pitchFamily="34" charset="-122"/>
                <a:cs typeface="Inter" pitchFamily="34" charset="-120"/>
              </a:rPr>
              <a:t>SSLBump は</a:t>
            </a:r>
            <a:r>
              <a:rPr lang="en-US" sz="1500" b="1" dirty="0">
                <a:solidFill>
                  <a:srgbClr val="3A414A"/>
                </a:solidFill>
                <a:latin typeface="Inter" pitchFamily="34" charset="0"/>
                <a:ea typeface="Inter" pitchFamily="34" charset="-122"/>
                <a:cs typeface="Inter" pitchFamily="34" charset="-120"/>
              </a:rPr>
              <a:t>1 通信経路につき 1 回のみ成立 </a:t>
            </a:r>
            <a:r>
              <a:rPr lang="en-US" sz="1500" dirty="0">
                <a:solidFill>
                  <a:srgbClr val="3A414A"/>
                </a:solidFill>
                <a:latin typeface="Inter" pitchFamily="34" charset="0"/>
                <a:ea typeface="Inter" pitchFamily="34" charset="-122"/>
                <a:cs typeface="Inter" pitchFamily="34" charset="-120"/>
              </a:rPr>
              <a:t>するため、Proxy1 経由で Proxy2 へ向かう経路では </a:t>
            </a:r>
            <a:r>
              <a:rPr lang="en-US" sz="1500" b="1" dirty="0">
                <a:solidFill>
                  <a:srgbClr val="3A414A"/>
                </a:solidFill>
                <a:latin typeface="Inter" pitchFamily="34" charset="0"/>
                <a:ea typeface="Inter" pitchFamily="34" charset="-122"/>
                <a:cs typeface="Inter" pitchFamily="34" charset="-120"/>
              </a:rPr>
              <a:t>Proxy1 で復号</a:t>
            </a:r>
            <a:r>
              <a:rPr lang="en-US" sz="1500" dirty="0">
                <a:solidFill>
                  <a:srgbClr val="3A414A"/>
                </a:solidFill>
                <a:latin typeface="Inter" pitchFamily="34" charset="0"/>
                <a:ea typeface="Inter" pitchFamily="34" charset="-122"/>
                <a:cs typeface="Inter" pitchFamily="34" charset="-120"/>
              </a:rPr>
              <a:t>、Proxy2 へ直接入る経路では</a:t>
            </a:r>
            <a:r>
              <a:rPr lang="en-US" sz="1500" b="1" dirty="0">
                <a:solidFill>
                  <a:srgbClr val="3A414A"/>
                </a:solidFill>
                <a:latin typeface="Inter" pitchFamily="34" charset="0"/>
                <a:ea typeface="Inter" pitchFamily="34" charset="-122"/>
                <a:cs typeface="Inter" pitchFamily="34" charset="-120"/>
              </a:rPr>
              <a:t>Proxy2 で復号</a:t>
            </a:r>
            <a:r>
              <a:rPr lang="en-US" sz="1500" dirty="0">
                <a:solidFill>
                  <a:srgbClr val="3A414A"/>
                </a:solidFill>
                <a:latin typeface="Inter" pitchFamily="34" charset="0"/>
                <a:ea typeface="Inter" pitchFamily="34" charset="-122"/>
                <a:cs typeface="Inter" pitchFamily="34" charset="-120"/>
              </a:rPr>
              <a:t>する構成とした。</a:t>
            </a:r>
            <a:endParaRPr lang="en-US" sz="1500" dirty="0"/>
          </a:p>
        </p:txBody>
      </p:sp>
      <p:sp>
        <p:nvSpPr>
          <p:cNvPr id="40" name="Text 37"/>
          <p:cNvSpPr/>
          <p:nvPr/>
        </p:nvSpPr>
        <p:spPr>
          <a:xfrm>
            <a:off x="952500" y="9763125"/>
            <a:ext cx="2747930"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MULTIPROXY · gan2</a:t>
            </a:r>
            <a:endParaRPr lang="en-US" sz="1800" dirty="0"/>
          </a:p>
        </p:txBody>
      </p:sp>
      <p:sp>
        <p:nvSpPr>
          <p:cNvPr id="41" name="Text 38"/>
          <p:cNvSpPr/>
          <p:nvPr/>
        </p:nvSpPr>
        <p:spPr>
          <a:xfrm>
            <a:off x="9065270" y="9763125"/>
            <a:ext cx="1981349"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3-Stage Proxy</a:t>
            </a:r>
            <a:endParaRPr lang="en-US" sz="1800" dirty="0"/>
          </a:p>
        </p:txBody>
      </p:sp>
      <p:sp>
        <p:nvSpPr>
          <p:cNvPr id="42" name="Text 39"/>
          <p:cNvSpPr/>
          <p:nvPr/>
        </p:nvSpPr>
        <p:spPr>
          <a:xfrm>
            <a:off x="16415296" y="9763125"/>
            <a:ext cx="996404"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05/10</a:t>
            </a:r>
            <a:endParaRPr lang="en-US" sz="1800" dirty="0"/>
          </a:p>
        </p:txBody>
      </p:sp>
      <p:pic>
        <p:nvPicPr>
          <p:cNvPr id="46" name="図 45">
            <a:extLst>
              <a:ext uri="{FF2B5EF4-FFF2-40B4-BE49-F238E27FC236}">
                <a16:creationId xmlns:a16="http://schemas.microsoft.com/office/drawing/2014/main" id="{C0AE3593-B45E-FBAC-C4AC-9D0B90C14048}"/>
              </a:ext>
            </a:extLst>
          </p:cNvPr>
          <p:cNvPicPr>
            <a:picLocks noChangeAspect="1"/>
          </p:cNvPicPr>
          <p:nvPr/>
        </p:nvPicPr>
        <p:blipFill>
          <a:blip r:embed="rId3"/>
          <a:stretch>
            <a:fillRect/>
          </a:stretch>
        </p:blipFill>
        <p:spPr>
          <a:xfrm>
            <a:off x="952500" y="3261661"/>
            <a:ext cx="8088081" cy="45519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6"/>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4EE"/>
          </a:solidFill>
          <a:ln/>
        </p:spPr>
      </p:sp>
      <p:sp>
        <p:nvSpPr>
          <p:cNvPr id="3" name="Shape 1"/>
          <p:cNvSpPr/>
          <p:nvPr/>
        </p:nvSpPr>
        <p:spPr>
          <a:xfrm>
            <a:off x="952500" y="1114425"/>
            <a:ext cx="476250" cy="19050"/>
          </a:xfrm>
          <a:prstGeom prst="rect">
            <a:avLst/>
          </a:prstGeom>
          <a:solidFill>
            <a:srgbClr val="1F4E79"/>
          </a:solidFill>
          <a:ln/>
        </p:spPr>
      </p:sp>
      <p:sp>
        <p:nvSpPr>
          <p:cNvPr id="4" name="Text 2"/>
          <p:cNvSpPr/>
          <p:nvPr/>
        </p:nvSpPr>
        <p:spPr>
          <a:xfrm>
            <a:off x="914400" y="781050"/>
            <a:ext cx="552450" cy="333375"/>
          </a:xfrm>
          <a:prstGeom prst="rect">
            <a:avLst/>
          </a:prstGeom>
          <a:noFill/>
          <a:ln/>
        </p:spPr>
        <p:txBody>
          <a:bodyPr wrap="square" lIns="25400" tIns="25400" rIns="25400" bIns="25400" rtlCol="0" anchor="t">
            <a:normAutofit lnSpcReduction="10000"/>
          </a:bodyPr>
          <a:lstStyle/>
          <a:p>
            <a:pPr marL="0" indent="0" algn="ctr">
              <a:buNone/>
            </a:pPr>
            <a:r>
              <a:rPr lang="en-US" sz="1950" b="1" kern="0" spc="351" dirty="0">
                <a:solidFill>
                  <a:srgbClr val="1F4E79"/>
                </a:solidFill>
                <a:latin typeface="Inter" pitchFamily="34" charset="0"/>
                <a:ea typeface="Inter" pitchFamily="34" charset="-122"/>
                <a:cs typeface="Inter" pitchFamily="34" charset="-120"/>
              </a:rPr>
              <a:t>05</a:t>
            </a:r>
            <a:endParaRPr lang="en-US" sz="1950" dirty="0"/>
          </a:p>
        </p:txBody>
      </p:sp>
      <p:sp>
        <p:nvSpPr>
          <p:cNvPr id="5" name="Text 3"/>
          <p:cNvSpPr/>
          <p:nvPr/>
        </p:nvSpPr>
        <p:spPr>
          <a:xfrm>
            <a:off x="1562100" y="781050"/>
            <a:ext cx="6907841" cy="390525"/>
          </a:xfrm>
          <a:prstGeom prst="rect">
            <a:avLst/>
          </a:prstGeom>
          <a:noFill/>
          <a:ln/>
        </p:spPr>
        <p:txBody>
          <a:bodyPr wrap="square" lIns="25400" tIns="25400" rIns="25400" bIns="25400" rtlCol="0" anchor="t">
            <a:normAutofit/>
          </a:bodyPr>
          <a:lstStyle/>
          <a:p>
            <a:pPr marL="0" indent="0" algn="l">
              <a:buNone/>
            </a:pPr>
            <a:r>
              <a:rPr lang="en-US" sz="1950" b="1" kern="0" spc="312" dirty="0">
                <a:solidFill>
                  <a:srgbClr val="1F4E79"/>
                </a:solidFill>
                <a:latin typeface="Inter" pitchFamily="34" charset="0"/>
                <a:ea typeface="Inter" pitchFamily="34" charset="-122"/>
                <a:cs typeface="Inter" pitchFamily="34" charset="-120"/>
              </a:rPr>
              <a:t>AUTH · DNS · PAC — 認証・名前解決・経路分岐</a:t>
            </a:r>
            <a:endParaRPr lang="en-US" sz="1950" dirty="0"/>
          </a:p>
        </p:txBody>
      </p:sp>
      <p:sp>
        <p:nvSpPr>
          <p:cNvPr id="6" name="Shape 4"/>
          <p:cNvSpPr/>
          <p:nvPr/>
        </p:nvSpPr>
        <p:spPr>
          <a:xfrm>
            <a:off x="8402092" y="742950"/>
            <a:ext cx="1668810" cy="428625"/>
          </a:xfrm>
          <a:prstGeom prst="rect">
            <a:avLst/>
          </a:prstGeom>
          <a:solidFill>
            <a:srgbClr val="E8EFE2"/>
          </a:solidFill>
          <a:ln/>
        </p:spPr>
      </p:sp>
      <p:sp>
        <p:nvSpPr>
          <p:cNvPr id="7" name="Text 5"/>
          <p:cNvSpPr/>
          <p:nvPr/>
        </p:nvSpPr>
        <p:spPr>
          <a:xfrm>
            <a:off x="8516392" y="790575"/>
            <a:ext cx="1516410" cy="371475"/>
          </a:xfrm>
          <a:prstGeom prst="rect">
            <a:avLst/>
          </a:prstGeom>
          <a:noFill/>
          <a:ln/>
        </p:spPr>
        <p:txBody>
          <a:bodyPr wrap="square" lIns="25400" tIns="25400" rIns="25400" bIns="25400" rtlCol="0" anchor="t">
            <a:normAutofit/>
          </a:bodyPr>
          <a:lstStyle/>
          <a:p>
            <a:pPr marL="0" indent="0" algn="l">
              <a:buNone/>
            </a:pPr>
            <a:r>
              <a:rPr lang="en-US" sz="1800" b="1" kern="0" spc="90" dirty="0">
                <a:solidFill>
                  <a:srgbClr val="3F5E22"/>
                </a:solidFill>
                <a:latin typeface="Inter" pitchFamily="34" charset="0"/>
                <a:ea typeface="Inter" pitchFamily="34" charset="-122"/>
                <a:cs typeface="Inter" pitchFamily="34" charset="-120"/>
              </a:rPr>
              <a:t>実装・検証済</a:t>
            </a:r>
            <a:endParaRPr lang="en-US" sz="1800" dirty="0"/>
          </a:p>
        </p:txBody>
      </p:sp>
      <p:sp>
        <p:nvSpPr>
          <p:cNvPr id="8" name="Text 6"/>
          <p:cNvSpPr/>
          <p:nvPr/>
        </p:nvSpPr>
        <p:spPr>
          <a:xfrm>
            <a:off x="952500" y="1381125"/>
            <a:ext cx="16874490" cy="549325"/>
          </a:xfrm>
          <a:prstGeom prst="rect">
            <a:avLst/>
          </a:prstGeom>
          <a:noFill/>
          <a:ln/>
        </p:spPr>
        <p:txBody>
          <a:bodyPr wrap="square" lIns="25400" tIns="25400" rIns="25400" bIns="25400" rtlCol="0" anchor="t">
            <a:normAutofit fontScale="92500" lnSpcReduction="20000"/>
          </a:bodyPr>
          <a:lstStyle/>
          <a:p>
            <a:pPr marL="0" indent="0" algn="l">
              <a:lnSpc>
                <a:spcPct val="122000"/>
              </a:lnSpc>
              <a:buNone/>
            </a:pPr>
            <a:r>
              <a:rPr lang="en-US" sz="3300" b="1" dirty="0">
                <a:solidFill>
                  <a:srgbClr val="0E1116"/>
                </a:solidFill>
                <a:latin typeface="Noto Serif JP" pitchFamily="34" charset="0"/>
                <a:ea typeface="Noto Serif JP" pitchFamily="34" charset="-122"/>
                <a:cs typeface="Noto Serif JP" pitchFamily="34" charset="-120"/>
              </a:rPr>
              <a:t>認証・DNS・PACを分け、経路分岐をログで裏取りできる状態にした。</a:t>
            </a:r>
            <a:endParaRPr lang="en-US" sz="3300" dirty="0"/>
          </a:p>
        </p:txBody>
      </p:sp>
      <p:sp>
        <p:nvSpPr>
          <p:cNvPr id="9" name="Shape 7"/>
          <p:cNvSpPr/>
          <p:nvPr/>
        </p:nvSpPr>
        <p:spPr>
          <a:xfrm>
            <a:off x="952500" y="2059037"/>
            <a:ext cx="209550" cy="209550"/>
          </a:xfrm>
          <a:prstGeom prst="ellipse">
            <a:avLst/>
          </a:prstGeom>
          <a:solidFill>
            <a:srgbClr val="1F4E79"/>
          </a:solidFill>
          <a:ln/>
        </p:spPr>
      </p:sp>
      <p:sp>
        <p:nvSpPr>
          <p:cNvPr id="10" name="Text 8"/>
          <p:cNvSpPr/>
          <p:nvPr/>
        </p:nvSpPr>
        <p:spPr>
          <a:xfrm>
            <a:off x="914400" y="2059037"/>
            <a:ext cx="285750" cy="247650"/>
          </a:xfrm>
          <a:prstGeom prst="rect">
            <a:avLst/>
          </a:prstGeom>
          <a:noFill/>
          <a:ln/>
        </p:spPr>
        <p:txBody>
          <a:bodyPr wrap="square" lIns="25400" tIns="25400" rIns="25400" bIns="25400" rtlCol="0" anchor="t">
            <a:normAutofit fontScale="92500" lnSpcReduction="20000"/>
          </a:bodyPr>
          <a:lstStyle/>
          <a:p>
            <a:pPr marL="0" indent="0" algn="ctr">
              <a:lnSpc>
                <a:spcPct val="157143"/>
              </a:lnSpc>
              <a:buNone/>
            </a:pPr>
            <a:r>
              <a:rPr lang="en-US" sz="1050" b="1" dirty="0">
                <a:solidFill>
                  <a:srgbClr val="FFFFFF"/>
                </a:solidFill>
                <a:latin typeface="Inter" pitchFamily="34" charset="0"/>
                <a:ea typeface="Inter" pitchFamily="34" charset="-122"/>
                <a:cs typeface="Inter" pitchFamily="34" charset="-120"/>
              </a:rPr>
              <a:t>✓</a:t>
            </a:r>
            <a:endParaRPr lang="en-US" sz="1050" dirty="0"/>
          </a:p>
        </p:txBody>
      </p:sp>
      <p:sp>
        <p:nvSpPr>
          <p:cNvPr id="11" name="Text 9"/>
          <p:cNvSpPr/>
          <p:nvPr/>
        </p:nvSpPr>
        <p:spPr>
          <a:xfrm>
            <a:off x="1257300" y="1987600"/>
            <a:ext cx="11365294"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1F4E79"/>
                </a:solidFill>
                <a:latin typeface="Inter" pitchFamily="34" charset="0"/>
                <a:ea typeface="Inter" pitchFamily="34" charset="-122"/>
                <a:cs typeface="Inter" pitchFamily="34" charset="-120"/>
              </a:rPr>
              <a:t>Samba AD/DC を正本に Kerberos 認証、dnsmasq で WPAD/PAC、経路は Proxy ログで裏取り。</a:t>
            </a:r>
            <a:endParaRPr lang="en-US" sz="1950" dirty="0"/>
          </a:p>
        </p:txBody>
      </p:sp>
      <p:sp>
        <p:nvSpPr>
          <p:cNvPr id="12" name="Shape 10"/>
          <p:cNvSpPr/>
          <p:nvPr/>
        </p:nvSpPr>
        <p:spPr>
          <a:xfrm>
            <a:off x="952500" y="2473375"/>
            <a:ext cx="8283922" cy="6765875"/>
          </a:xfrm>
          <a:prstGeom prst="rect">
            <a:avLst/>
          </a:prstGeom>
          <a:solidFill>
            <a:srgbClr val="FFFFFF"/>
          </a:solidFill>
          <a:ln w="9525">
            <a:solidFill>
              <a:srgbClr val="E2E5EA"/>
            </a:solidFill>
            <a:prstDash val="solid"/>
          </a:ln>
        </p:spPr>
      </p:sp>
      <p:sp>
        <p:nvSpPr>
          <p:cNvPr id="13" name="Text 11"/>
          <p:cNvSpPr/>
          <p:nvPr/>
        </p:nvSpPr>
        <p:spPr>
          <a:xfrm>
            <a:off x="1114425" y="2616250"/>
            <a:ext cx="8202303" cy="314325"/>
          </a:xfrm>
          <a:prstGeom prst="rect">
            <a:avLst/>
          </a:prstGeom>
          <a:noFill/>
          <a:ln/>
        </p:spPr>
        <p:txBody>
          <a:bodyPr wrap="square" lIns="25400" tIns="25400" rIns="25400" bIns="25400" rtlCol="0" anchor="t">
            <a:normAutofit/>
          </a:bodyPr>
          <a:lstStyle/>
          <a:p>
            <a:pPr marL="0" indent="0" algn="l">
              <a:buNone/>
            </a:pPr>
            <a:r>
              <a:rPr lang="en-US" sz="1500" b="1" kern="0" spc="90" dirty="0">
                <a:solidFill>
                  <a:srgbClr val="1F4E79"/>
                </a:solidFill>
                <a:latin typeface="Inter" pitchFamily="34" charset="0"/>
                <a:ea typeface="Inter" pitchFamily="34" charset="-122"/>
                <a:cs typeface="Inter" pitchFamily="34" charset="-120"/>
              </a:rPr>
              <a:t>PAC本体と Proxy 通信経路図（PROXY → DIRECT 分岐）</a:t>
            </a:r>
            <a:endParaRPr lang="en-US" sz="1500" dirty="0"/>
          </a:p>
        </p:txBody>
      </p:sp>
      <p:pic>
        <p:nvPicPr>
          <p:cNvPr id="14" name="Image 0" descr="preencoded.png"/>
          <p:cNvPicPr>
            <a:picLocks noChangeAspect="1"/>
          </p:cNvPicPr>
          <p:nvPr/>
        </p:nvPicPr>
        <p:blipFill>
          <a:blip r:embed="rId3"/>
          <a:srcRect/>
          <a:stretch/>
        </p:blipFill>
        <p:spPr>
          <a:xfrm>
            <a:off x="2152055" y="2968675"/>
            <a:ext cx="5884664" cy="6165652"/>
          </a:xfrm>
          <a:prstGeom prst="rect">
            <a:avLst/>
          </a:prstGeom>
        </p:spPr>
      </p:pic>
      <p:sp>
        <p:nvSpPr>
          <p:cNvPr id="15" name="Shape 12"/>
          <p:cNvSpPr/>
          <p:nvPr/>
        </p:nvSpPr>
        <p:spPr>
          <a:xfrm>
            <a:off x="9445972" y="2473375"/>
            <a:ext cx="7889528" cy="1751558"/>
          </a:xfrm>
          <a:prstGeom prst="rect">
            <a:avLst/>
          </a:prstGeom>
          <a:solidFill>
            <a:srgbClr val="FFFFFF"/>
          </a:solidFill>
          <a:ln/>
        </p:spPr>
      </p:sp>
      <p:sp>
        <p:nvSpPr>
          <p:cNvPr id="16" name="Shape 13"/>
          <p:cNvSpPr/>
          <p:nvPr/>
        </p:nvSpPr>
        <p:spPr>
          <a:xfrm>
            <a:off x="9445972" y="4215408"/>
            <a:ext cx="7889528" cy="9525"/>
          </a:xfrm>
          <a:prstGeom prst="rect">
            <a:avLst/>
          </a:prstGeom>
          <a:solidFill>
            <a:srgbClr val="E2E5EA"/>
          </a:solidFill>
          <a:ln/>
        </p:spPr>
      </p:sp>
      <p:sp>
        <p:nvSpPr>
          <p:cNvPr id="17" name="Shape 14"/>
          <p:cNvSpPr/>
          <p:nvPr/>
        </p:nvSpPr>
        <p:spPr>
          <a:xfrm>
            <a:off x="9445972" y="2473375"/>
            <a:ext cx="7889528" cy="9525"/>
          </a:xfrm>
          <a:prstGeom prst="rect">
            <a:avLst/>
          </a:prstGeom>
          <a:solidFill>
            <a:srgbClr val="E2E5EA"/>
          </a:solidFill>
          <a:ln/>
        </p:spPr>
      </p:sp>
      <p:sp>
        <p:nvSpPr>
          <p:cNvPr id="18" name="Shape 15"/>
          <p:cNvSpPr/>
          <p:nvPr/>
        </p:nvSpPr>
        <p:spPr>
          <a:xfrm>
            <a:off x="9445972" y="2473375"/>
            <a:ext cx="38100" cy="1751558"/>
          </a:xfrm>
          <a:prstGeom prst="rect">
            <a:avLst/>
          </a:prstGeom>
          <a:solidFill>
            <a:srgbClr val="1F4E79"/>
          </a:solidFill>
          <a:ln/>
        </p:spPr>
      </p:sp>
      <p:sp>
        <p:nvSpPr>
          <p:cNvPr id="19" name="Shape 16"/>
          <p:cNvSpPr/>
          <p:nvPr/>
        </p:nvSpPr>
        <p:spPr>
          <a:xfrm>
            <a:off x="17325975" y="2473375"/>
            <a:ext cx="9525" cy="1751558"/>
          </a:xfrm>
          <a:prstGeom prst="rect">
            <a:avLst/>
          </a:prstGeom>
          <a:solidFill>
            <a:srgbClr val="E2E5EA"/>
          </a:solidFill>
          <a:ln/>
        </p:spPr>
      </p:sp>
      <p:sp>
        <p:nvSpPr>
          <p:cNvPr id="20" name="Text 17"/>
          <p:cNvSpPr/>
          <p:nvPr/>
        </p:nvSpPr>
        <p:spPr>
          <a:xfrm>
            <a:off x="9655522" y="2616250"/>
            <a:ext cx="7723973" cy="314325"/>
          </a:xfrm>
          <a:prstGeom prst="rect">
            <a:avLst/>
          </a:prstGeom>
          <a:noFill/>
          <a:ln/>
        </p:spPr>
        <p:txBody>
          <a:bodyPr wrap="square" lIns="25400" tIns="25400" rIns="25400" bIns="25400" rtlCol="0" anchor="t">
            <a:normAutofit/>
          </a:bodyPr>
          <a:lstStyle/>
          <a:p>
            <a:pPr marL="0" indent="0" algn="l">
              <a:buNone/>
            </a:pPr>
            <a:r>
              <a:rPr lang="en-US" sz="1500" b="1" kern="0" spc="150" dirty="0">
                <a:solidFill>
                  <a:srgbClr val="1F4E79"/>
                </a:solidFill>
                <a:latin typeface="Inter" pitchFamily="34" charset="0"/>
                <a:ea typeface="Inter" pitchFamily="34" charset="-122"/>
                <a:cs typeface="Inter" pitchFamily="34" charset="-120"/>
              </a:rPr>
              <a:t>認証</a:t>
            </a:r>
            <a:endParaRPr lang="en-US" sz="1500" dirty="0"/>
          </a:p>
        </p:txBody>
      </p:sp>
      <p:sp>
        <p:nvSpPr>
          <p:cNvPr id="21" name="Text 18"/>
          <p:cNvSpPr/>
          <p:nvPr/>
        </p:nvSpPr>
        <p:spPr>
          <a:xfrm>
            <a:off x="9655522" y="2930575"/>
            <a:ext cx="7723973" cy="1189583"/>
          </a:xfrm>
          <a:prstGeom prst="rect">
            <a:avLst/>
          </a:prstGeom>
          <a:noFill/>
          <a:ln/>
        </p:spPr>
        <p:txBody>
          <a:bodyPr wrap="square" lIns="25400" tIns="25400" rIns="25400" bIns="25400" rtlCol="0" anchor="t">
            <a:normAutofit fontScale="92500"/>
          </a:bodyPr>
          <a:lstStyle/>
          <a:p>
            <a:pPr marL="0" indent="0" algn="l">
              <a:lnSpc>
                <a:spcPct val="155000"/>
              </a:lnSpc>
              <a:buNone/>
            </a:pPr>
            <a:r>
              <a:rPr lang="en-US" sz="1950" b="1" dirty="0">
                <a:solidFill>
                  <a:srgbClr val="0E1116"/>
                </a:solidFill>
                <a:latin typeface="Inter" pitchFamily="34" charset="0"/>
                <a:ea typeface="Inter" pitchFamily="34" charset="-122"/>
                <a:cs typeface="Inter" pitchFamily="34" charset="-120"/>
              </a:rPr>
              <a:t>Samba AD/DC</a:t>
            </a:r>
            <a:r>
              <a:rPr lang="en-US" sz="1950" dirty="0">
                <a:solidFill>
                  <a:srgbClr val="0E1116"/>
                </a:solidFill>
                <a:latin typeface="Inter" pitchFamily="34" charset="0"/>
                <a:ea typeface="Inter" pitchFamily="34" charset="-122"/>
                <a:cs typeface="Inter" pitchFamily="34" charset="-120"/>
              </a:rPr>
              <a:t>を認証の正本にし、</a:t>
            </a:r>
            <a:r>
              <a:rPr lang="en-US" sz="1950" b="1" dirty="0">
                <a:solidFill>
                  <a:srgbClr val="0E1116"/>
                </a:solidFill>
                <a:latin typeface="Inter" pitchFamily="34" charset="0"/>
                <a:ea typeface="Inter" pitchFamily="34" charset="-122"/>
                <a:cs typeface="Inter" pitchFamily="34" charset="-120"/>
              </a:rPr>
              <a:t>Kerberos </a:t>
            </a:r>
            <a:r>
              <a:rPr lang="en-US" sz="1950" dirty="0">
                <a:solidFill>
                  <a:srgbClr val="0E1116"/>
                </a:solidFill>
                <a:latin typeface="Inter" pitchFamily="34" charset="0"/>
                <a:ea typeface="Inter" pitchFamily="34" charset="-122"/>
                <a:cs typeface="Inter" pitchFamily="34" charset="-120"/>
              </a:rPr>
              <a:t>で認証。 ハマり：DNS逆引き と SPN の整合崩れで 407 が止まる → AD/DC 側で揃えて解消。</a:t>
            </a:r>
            <a:endParaRPr lang="en-US" sz="1950" dirty="0"/>
          </a:p>
        </p:txBody>
      </p:sp>
      <p:sp>
        <p:nvSpPr>
          <p:cNvPr id="22" name="Shape 19"/>
          <p:cNvSpPr/>
          <p:nvPr/>
        </p:nvSpPr>
        <p:spPr>
          <a:xfrm>
            <a:off x="9445972" y="4339233"/>
            <a:ext cx="7889528" cy="1320105"/>
          </a:xfrm>
          <a:prstGeom prst="rect">
            <a:avLst/>
          </a:prstGeom>
          <a:solidFill>
            <a:srgbClr val="FFFFFF"/>
          </a:solidFill>
          <a:ln/>
        </p:spPr>
      </p:sp>
      <p:sp>
        <p:nvSpPr>
          <p:cNvPr id="23" name="Shape 20"/>
          <p:cNvSpPr/>
          <p:nvPr/>
        </p:nvSpPr>
        <p:spPr>
          <a:xfrm>
            <a:off x="9445972" y="5649813"/>
            <a:ext cx="7889528" cy="9525"/>
          </a:xfrm>
          <a:prstGeom prst="rect">
            <a:avLst/>
          </a:prstGeom>
          <a:solidFill>
            <a:srgbClr val="E2E5EA"/>
          </a:solidFill>
          <a:ln/>
        </p:spPr>
      </p:sp>
      <p:sp>
        <p:nvSpPr>
          <p:cNvPr id="24" name="Shape 21"/>
          <p:cNvSpPr/>
          <p:nvPr/>
        </p:nvSpPr>
        <p:spPr>
          <a:xfrm>
            <a:off x="9445972" y="4339233"/>
            <a:ext cx="7889528" cy="9525"/>
          </a:xfrm>
          <a:prstGeom prst="rect">
            <a:avLst/>
          </a:prstGeom>
          <a:solidFill>
            <a:srgbClr val="E2E5EA"/>
          </a:solidFill>
          <a:ln/>
        </p:spPr>
      </p:sp>
      <p:sp>
        <p:nvSpPr>
          <p:cNvPr id="25" name="Shape 22"/>
          <p:cNvSpPr/>
          <p:nvPr/>
        </p:nvSpPr>
        <p:spPr>
          <a:xfrm>
            <a:off x="9445972" y="4339233"/>
            <a:ext cx="38100" cy="1320105"/>
          </a:xfrm>
          <a:prstGeom prst="rect">
            <a:avLst/>
          </a:prstGeom>
          <a:solidFill>
            <a:srgbClr val="B6802A"/>
          </a:solidFill>
          <a:ln/>
        </p:spPr>
      </p:sp>
      <p:sp>
        <p:nvSpPr>
          <p:cNvPr id="26" name="Shape 23"/>
          <p:cNvSpPr/>
          <p:nvPr/>
        </p:nvSpPr>
        <p:spPr>
          <a:xfrm>
            <a:off x="17325975" y="4339233"/>
            <a:ext cx="9525" cy="1320105"/>
          </a:xfrm>
          <a:prstGeom prst="rect">
            <a:avLst/>
          </a:prstGeom>
          <a:solidFill>
            <a:srgbClr val="E2E5EA"/>
          </a:solidFill>
          <a:ln/>
        </p:spPr>
      </p:sp>
      <p:sp>
        <p:nvSpPr>
          <p:cNvPr id="27" name="Text 24"/>
          <p:cNvSpPr/>
          <p:nvPr/>
        </p:nvSpPr>
        <p:spPr>
          <a:xfrm>
            <a:off x="9655522" y="4482108"/>
            <a:ext cx="7723973"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150" dirty="0">
                <a:solidFill>
                  <a:srgbClr val="B6802A"/>
                </a:solidFill>
                <a:latin typeface="Inter" pitchFamily="34" charset="0"/>
                <a:ea typeface="Inter" pitchFamily="34" charset="-122"/>
                <a:cs typeface="Inter" pitchFamily="34" charset="-120"/>
              </a:rPr>
              <a:t>DNS · WPAD · PAC</a:t>
            </a:r>
            <a:endParaRPr lang="en-US" sz="1500" dirty="0"/>
          </a:p>
        </p:txBody>
      </p:sp>
      <p:sp>
        <p:nvSpPr>
          <p:cNvPr id="28" name="Text 25"/>
          <p:cNvSpPr/>
          <p:nvPr/>
        </p:nvSpPr>
        <p:spPr>
          <a:xfrm>
            <a:off x="9655522" y="4748808"/>
            <a:ext cx="7723973" cy="805755"/>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950" b="1" dirty="0">
                <a:solidFill>
                  <a:srgbClr val="0E1116"/>
                </a:solidFill>
                <a:latin typeface="Inter" pitchFamily="34" charset="0"/>
                <a:ea typeface="Inter" pitchFamily="34" charset="-122"/>
                <a:cs typeface="Inter" pitchFamily="34" charset="-120"/>
              </a:rPr>
              <a:t>dnsmasq </a:t>
            </a:r>
            <a:r>
              <a:rPr lang="en-US" sz="1950" dirty="0">
                <a:solidFill>
                  <a:srgbClr val="0E1116"/>
                </a:solidFill>
                <a:latin typeface="Inter" pitchFamily="34" charset="0"/>
                <a:ea typeface="Inter" pitchFamily="34" charset="-122"/>
                <a:cs typeface="Inter" pitchFamily="34" charset="-120"/>
              </a:rPr>
              <a:t>が DNS / WPAD / PAC を担当。 PAC によって</a:t>
            </a:r>
            <a:r>
              <a:rPr lang="en-US" sz="1950" b="1" dirty="0">
                <a:solidFill>
                  <a:srgbClr val="0E1116"/>
                </a:solidFill>
                <a:latin typeface="Inter" pitchFamily="34" charset="0"/>
                <a:ea typeface="Inter" pitchFamily="34" charset="-122"/>
                <a:cs typeface="Inter" pitchFamily="34" charset="-120"/>
              </a:rPr>
              <a:t>Proxy 経由</a:t>
            </a:r>
            <a:r>
              <a:rPr lang="en-US" sz="1950" dirty="0">
                <a:solidFill>
                  <a:srgbClr val="0E1116"/>
                </a:solidFill>
                <a:latin typeface="Inter" pitchFamily="34" charset="0"/>
                <a:ea typeface="Inter" pitchFamily="34" charset="-122"/>
                <a:cs typeface="Inter" pitchFamily="34" charset="-120"/>
              </a:rPr>
              <a:t>と</a:t>
            </a:r>
            <a:r>
              <a:rPr lang="en-US" sz="1950" b="1" dirty="0">
                <a:solidFill>
                  <a:srgbClr val="0E1116"/>
                </a:solidFill>
                <a:latin typeface="Inter" pitchFamily="34" charset="0"/>
                <a:ea typeface="Inter" pitchFamily="34" charset="-122"/>
                <a:cs typeface="Inter" pitchFamily="34" charset="-120"/>
              </a:rPr>
              <a:t>DIRECT</a:t>
            </a:r>
            <a:r>
              <a:rPr lang="en-US" sz="1950" dirty="0">
                <a:solidFill>
                  <a:srgbClr val="0E1116"/>
                </a:solidFill>
                <a:latin typeface="Inter" pitchFamily="34" charset="0"/>
                <a:ea typeface="Inter" pitchFamily="34" charset="-122"/>
                <a:cs typeface="Inter" pitchFamily="34" charset="-120"/>
              </a:rPr>
              <a:t>を分岐させる。</a:t>
            </a:r>
            <a:endParaRPr lang="en-US" sz="1950" dirty="0"/>
          </a:p>
        </p:txBody>
      </p:sp>
      <p:sp>
        <p:nvSpPr>
          <p:cNvPr id="29" name="Shape 26"/>
          <p:cNvSpPr/>
          <p:nvPr/>
        </p:nvSpPr>
        <p:spPr>
          <a:xfrm>
            <a:off x="9445972" y="5773638"/>
            <a:ext cx="7889528" cy="1751558"/>
          </a:xfrm>
          <a:prstGeom prst="rect">
            <a:avLst/>
          </a:prstGeom>
          <a:solidFill>
            <a:srgbClr val="FFFFFF"/>
          </a:solidFill>
          <a:ln/>
        </p:spPr>
      </p:sp>
      <p:sp>
        <p:nvSpPr>
          <p:cNvPr id="30" name="Shape 27"/>
          <p:cNvSpPr/>
          <p:nvPr/>
        </p:nvSpPr>
        <p:spPr>
          <a:xfrm>
            <a:off x="9445972" y="7515671"/>
            <a:ext cx="7889528" cy="9525"/>
          </a:xfrm>
          <a:prstGeom prst="rect">
            <a:avLst/>
          </a:prstGeom>
          <a:solidFill>
            <a:srgbClr val="E2E5EA"/>
          </a:solidFill>
          <a:ln/>
        </p:spPr>
      </p:sp>
      <p:sp>
        <p:nvSpPr>
          <p:cNvPr id="31" name="Shape 28"/>
          <p:cNvSpPr/>
          <p:nvPr/>
        </p:nvSpPr>
        <p:spPr>
          <a:xfrm>
            <a:off x="9445972" y="5773638"/>
            <a:ext cx="7889528" cy="9525"/>
          </a:xfrm>
          <a:prstGeom prst="rect">
            <a:avLst/>
          </a:prstGeom>
          <a:solidFill>
            <a:srgbClr val="E2E5EA"/>
          </a:solidFill>
          <a:ln/>
        </p:spPr>
      </p:sp>
      <p:sp>
        <p:nvSpPr>
          <p:cNvPr id="32" name="Shape 29"/>
          <p:cNvSpPr/>
          <p:nvPr/>
        </p:nvSpPr>
        <p:spPr>
          <a:xfrm>
            <a:off x="9445972" y="5773638"/>
            <a:ext cx="38100" cy="1751558"/>
          </a:xfrm>
          <a:prstGeom prst="rect">
            <a:avLst/>
          </a:prstGeom>
          <a:solidFill>
            <a:srgbClr val="C8401F"/>
          </a:solidFill>
          <a:ln/>
        </p:spPr>
      </p:sp>
      <p:sp>
        <p:nvSpPr>
          <p:cNvPr id="33" name="Shape 30"/>
          <p:cNvSpPr/>
          <p:nvPr/>
        </p:nvSpPr>
        <p:spPr>
          <a:xfrm>
            <a:off x="17325975" y="5773638"/>
            <a:ext cx="9525" cy="1751558"/>
          </a:xfrm>
          <a:prstGeom prst="rect">
            <a:avLst/>
          </a:prstGeom>
          <a:solidFill>
            <a:srgbClr val="E2E5EA"/>
          </a:solidFill>
          <a:ln/>
        </p:spPr>
      </p:sp>
      <p:sp>
        <p:nvSpPr>
          <p:cNvPr id="34" name="Text 31"/>
          <p:cNvSpPr/>
          <p:nvPr/>
        </p:nvSpPr>
        <p:spPr>
          <a:xfrm>
            <a:off x="9655522" y="5916513"/>
            <a:ext cx="7723973" cy="314325"/>
          </a:xfrm>
          <a:prstGeom prst="rect">
            <a:avLst/>
          </a:prstGeom>
          <a:noFill/>
          <a:ln/>
        </p:spPr>
        <p:txBody>
          <a:bodyPr wrap="square" lIns="25400" tIns="25400" rIns="25400" bIns="25400" rtlCol="0" anchor="t">
            <a:normAutofit/>
          </a:bodyPr>
          <a:lstStyle/>
          <a:p>
            <a:pPr marL="0" indent="0" algn="l">
              <a:buNone/>
            </a:pPr>
            <a:r>
              <a:rPr lang="en-US" sz="1500" b="1" kern="0" spc="150" dirty="0">
                <a:solidFill>
                  <a:srgbClr val="C8401F"/>
                </a:solidFill>
                <a:latin typeface="Inter" pitchFamily="34" charset="0"/>
                <a:ea typeface="Inter" pitchFamily="34" charset="-122"/>
                <a:cs typeface="Inter" pitchFamily="34" charset="-120"/>
              </a:rPr>
              <a:t>裏取り</a:t>
            </a:r>
            <a:endParaRPr lang="en-US" sz="1500" dirty="0"/>
          </a:p>
        </p:txBody>
      </p:sp>
      <p:sp>
        <p:nvSpPr>
          <p:cNvPr id="35" name="Text 32"/>
          <p:cNvSpPr/>
          <p:nvPr/>
        </p:nvSpPr>
        <p:spPr>
          <a:xfrm>
            <a:off x="9655522" y="6230838"/>
            <a:ext cx="7723973" cy="1189583"/>
          </a:xfrm>
          <a:prstGeom prst="rect">
            <a:avLst/>
          </a:prstGeom>
          <a:noFill/>
          <a:ln/>
        </p:spPr>
        <p:txBody>
          <a:bodyPr wrap="square" lIns="25400" tIns="25400" rIns="25400" bIns="25400" rtlCol="0" anchor="t">
            <a:normAutofit/>
          </a:bodyPr>
          <a:lstStyle/>
          <a:p>
            <a:pPr marL="0" indent="0" algn="l">
              <a:lnSpc>
                <a:spcPct val="155000"/>
              </a:lnSpc>
              <a:buNone/>
            </a:pPr>
            <a:r>
              <a:rPr lang="en-US" sz="1950" dirty="0">
                <a:solidFill>
                  <a:srgbClr val="0E1116"/>
                </a:solidFill>
                <a:latin typeface="Inter" pitchFamily="34" charset="0"/>
                <a:ea typeface="Inter" pitchFamily="34" charset="-122"/>
                <a:cs typeface="Inter" pitchFamily="34" charset="-120"/>
              </a:rPr>
              <a:t>経路分岐は</a:t>
            </a:r>
            <a:r>
              <a:rPr lang="en-US" sz="1950" b="1" dirty="0">
                <a:solidFill>
                  <a:srgbClr val="0E1116"/>
                </a:solidFill>
                <a:latin typeface="Inter" pitchFamily="34" charset="0"/>
                <a:ea typeface="Inter" pitchFamily="34" charset="-122"/>
                <a:cs typeface="Inter" pitchFamily="34" charset="-120"/>
              </a:rPr>
              <a:t>Proxy ログの有無 </a:t>
            </a:r>
            <a:r>
              <a:rPr lang="en-US" sz="1950" dirty="0">
                <a:solidFill>
                  <a:srgbClr val="0E1116"/>
                </a:solidFill>
                <a:latin typeface="Inter" pitchFamily="34" charset="0"/>
                <a:ea typeface="Inter" pitchFamily="34" charset="-122"/>
                <a:cs typeface="Inter" pitchFamily="34" charset="-120"/>
              </a:rPr>
              <a:t>で裏取り： Proxy 経由 → Proxyログにヒット ／ DIRECT → Proxyログに出ない。</a:t>
            </a:r>
            <a:endParaRPr lang="en-US" sz="1950" dirty="0"/>
          </a:p>
        </p:txBody>
      </p:sp>
      <p:sp>
        <p:nvSpPr>
          <p:cNvPr id="36" name="Text 33"/>
          <p:cNvSpPr/>
          <p:nvPr/>
        </p:nvSpPr>
        <p:spPr>
          <a:xfrm>
            <a:off x="952500" y="9763125"/>
            <a:ext cx="2747930"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MULTIPROXY · gan2</a:t>
            </a:r>
            <a:endParaRPr lang="en-US" sz="1800" dirty="0"/>
          </a:p>
        </p:txBody>
      </p:sp>
      <p:sp>
        <p:nvSpPr>
          <p:cNvPr id="37" name="Text 34"/>
          <p:cNvSpPr/>
          <p:nvPr/>
        </p:nvSpPr>
        <p:spPr>
          <a:xfrm>
            <a:off x="8867924" y="9763125"/>
            <a:ext cx="2369939"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Auth / DNS / PAC</a:t>
            </a:r>
            <a:endParaRPr lang="en-US" sz="1800" dirty="0"/>
          </a:p>
        </p:txBody>
      </p:sp>
      <p:sp>
        <p:nvSpPr>
          <p:cNvPr id="38" name="Text 35"/>
          <p:cNvSpPr/>
          <p:nvPr/>
        </p:nvSpPr>
        <p:spPr>
          <a:xfrm>
            <a:off x="16409045" y="9763125"/>
            <a:ext cx="1002655"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06/10</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6"/>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4EE"/>
          </a:solidFill>
          <a:ln/>
        </p:spPr>
      </p:sp>
      <p:sp>
        <p:nvSpPr>
          <p:cNvPr id="3" name="Shape 1"/>
          <p:cNvSpPr/>
          <p:nvPr/>
        </p:nvSpPr>
        <p:spPr>
          <a:xfrm>
            <a:off x="952500" y="1114425"/>
            <a:ext cx="476250" cy="19050"/>
          </a:xfrm>
          <a:prstGeom prst="rect">
            <a:avLst/>
          </a:prstGeom>
          <a:solidFill>
            <a:srgbClr val="6B7B3A"/>
          </a:solidFill>
          <a:ln/>
        </p:spPr>
      </p:sp>
      <p:sp>
        <p:nvSpPr>
          <p:cNvPr id="4" name="Text 2"/>
          <p:cNvSpPr/>
          <p:nvPr/>
        </p:nvSpPr>
        <p:spPr>
          <a:xfrm>
            <a:off x="914400" y="781050"/>
            <a:ext cx="552450" cy="333375"/>
          </a:xfrm>
          <a:prstGeom prst="rect">
            <a:avLst/>
          </a:prstGeom>
          <a:noFill/>
          <a:ln/>
        </p:spPr>
        <p:txBody>
          <a:bodyPr wrap="square" lIns="25400" tIns="25400" rIns="25400" bIns="25400" rtlCol="0" anchor="t">
            <a:normAutofit lnSpcReduction="10000"/>
          </a:bodyPr>
          <a:lstStyle/>
          <a:p>
            <a:pPr marL="0" indent="0" algn="ctr">
              <a:buNone/>
            </a:pPr>
            <a:r>
              <a:rPr lang="en-US" sz="1950" b="1" kern="0" spc="351" dirty="0">
                <a:solidFill>
                  <a:srgbClr val="6B7B3A"/>
                </a:solidFill>
                <a:latin typeface="Inter" pitchFamily="34" charset="0"/>
                <a:ea typeface="Inter" pitchFamily="34" charset="-122"/>
                <a:cs typeface="Inter" pitchFamily="34" charset="-120"/>
              </a:rPr>
              <a:t>06</a:t>
            </a:r>
            <a:endParaRPr lang="en-US" sz="1950" dirty="0"/>
          </a:p>
        </p:txBody>
      </p:sp>
      <p:sp>
        <p:nvSpPr>
          <p:cNvPr id="5" name="Text 3"/>
          <p:cNvSpPr/>
          <p:nvPr/>
        </p:nvSpPr>
        <p:spPr>
          <a:xfrm>
            <a:off x="1562100" y="781050"/>
            <a:ext cx="5921401" cy="390525"/>
          </a:xfrm>
          <a:prstGeom prst="rect">
            <a:avLst/>
          </a:prstGeom>
          <a:noFill/>
          <a:ln/>
        </p:spPr>
        <p:txBody>
          <a:bodyPr wrap="square" lIns="25400" tIns="25400" rIns="25400" bIns="25400" rtlCol="0" anchor="t">
            <a:normAutofit/>
          </a:bodyPr>
          <a:lstStyle/>
          <a:p>
            <a:pPr marL="0" indent="0" algn="l">
              <a:buNone/>
            </a:pPr>
            <a:r>
              <a:rPr lang="en-US" sz="1950" b="1" kern="0" spc="312" dirty="0">
                <a:solidFill>
                  <a:srgbClr val="6B7B3A"/>
                </a:solidFill>
                <a:latin typeface="Inter" pitchFamily="34" charset="0"/>
                <a:ea typeface="Inter" pitchFamily="34" charset="-122"/>
                <a:cs typeface="Inter" pitchFamily="34" charset="-120"/>
              </a:rPr>
              <a:t>LOG TRIAGE — 横断切り分け EVIDENCE</a:t>
            </a:r>
            <a:endParaRPr lang="en-US" sz="1950" dirty="0"/>
          </a:p>
        </p:txBody>
      </p:sp>
      <p:sp>
        <p:nvSpPr>
          <p:cNvPr id="6" name="Shape 4"/>
          <p:cNvSpPr/>
          <p:nvPr/>
        </p:nvSpPr>
        <p:spPr>
          <a:xfrm>
            <a:off x="7444383" y="742950"/>
            <a:ext cx="1668810" cy="428625"/>
          </a:xfrm>
          <a:prstGeom prst="rect">
            <a:avLst/>
          </a:prstGeom>
          <a:solidFill>
            <a:srgbClr val="E8EFE2"/>
          </a:solidFill>
          <a:ln/>
        </p:spPr>
      </p:sp>
      <p:sp>
        <p:nvSpPr>
          <p:cNvPr id="7" name="Text 5"/>
          <p:cNvSpPr/>
          <p:nvPr/>
        </p:nvSpPr>
        <p:spPr>
          <a:xfrm>
            <a:off x="7558683" y="790575"/>
            <a:ext cx="1516410" cy="371475"/>
          </a:xfrm>
          <a:prstGeom prst="rect">
            <a:avLst/>
          </a:prstGeom>
          <a:noFill/>
          <a:ln/>
        </p:spPr>
        <p:txBody>
          <a:bodyPr wrap="square" lIns="25400" tIns="25400" rIns="25400" bIns="25400" rtlCol="0" anchor="t">
            <a:normAutofit/>
          </a:bodyPr>
          <a:lstStyle/>
          <a:p>
            <a:pPr marL="0" indent="0" algn="l">
              <a:buNone/>
            </a:pPr>
            <a:r>
              <a:rPr lang="en-US" sz="1800" b="1" kern="0" spc="90" dirty="0">
                <a:solidFill>
                  <a:srgbClr val="3F5E22"/>
                </a:solidFill>
                <a:latin typeface="Inter" pitchFamily="34" charset="0"/>
                <a:ea typeface="Inter" pitchFamily="34" charset="-122"/>
                <a:cs typeface="Inter" pitchFamily="34" charset="-120"/>
              </a:rPr>
              <a:t>実装・検証済</a:t>
            </a:r>
            <a:endParaRPr lang="en-US" sz="1800" dirty="0"/>
          </a:p>
        </p:txBody>
      </p:sp>
      <p:sp>
        <p:nvSpPr>
          <p:cNvPr id="8" name="Text 6"/>
          <p:cNvSpPr/>
          <p:nvPr/>
        </p:nvSpPr>
        <p:spPr>
          <a:xfrm>
            <a:off x="952500" y="1381125"/>
            <a:ext cx="16874490" cy="549325"/>
          </a:xfrm>
          <a:prstGeom prst="rect">
            <a:avLst/>
          </a:prstGeom>
          <a:noFill/>
          <a:ln/>
        </p:spPr>
        <p:txBody>
          <a:bodyPr wrap="square" lIns="25400" tIns="25400" rIns="25400" bIns="25400" rtlCol="0" anchor="t">
            <a:normAutofit fontScale="92500" lnSpcReduction="20000"/>
          </a:bodyPr>
          <a:lstStyle/>
          <a:p>
            <a:pPr marL="0" indent="0" algn="l">
              <a:lnSpc>
                <a:spcPct val="122000"/>
              </a:lnSpc>
              <a:buNone/>
            </a:pPr>
            <a:r>
              <a:rPr lang="en-US" sz="3300" b="1" dirty="0">
                <a:solidFill>
                  <a:srgbClr val="0E1116"/>
                </a:solidFill>
                <a:latin typeface="Noto Serif JP" pitchFamily="34" charset="0"/>
                <a:ea typeface="Noto Serif JP" pitchFamily="34" charset="-122"/>
                <a:cs typeface="Noto Serif JP" pitchFamily="34" charset="-120"/>
              </a:rPr>
              <a:t>access.log で結果を確認し、関連ログから原因へ寄せる。</a:t>
            </a:r>
            <a:endParaRPr lang="en-US" sz="3300" dirty="0"/>
          </a:p>
        </p:txBody>
      </p:sp>
      <p:sp>
        <p:nvSpPr>
          <p:cNvPr id="9" name="Shape 7"/>
          <p:cNvSpPr/>
          <p:nvPr/>
        </p:nvSpPr>
        <p:spPr>
          <a:xfrm>
            <a:off x="952500" y="2059037"/>
            <a:ext cx="209550" cy="209550"/>
          </a:xfrm>
          <a:prstGeom prst="ellipse">
            <a:avLst/>
          </a:prstGeom>
          <a:solidFill>
            <a:srgbClr val="1F4E79"/>
          </a:solidFill>
          <a:ln/>
        </p:spPr>
      </p:sp>
      <p:sp>
        <p:nvSpPr>
          <p:cNvPr id="10" name="Text 8"/>
          <p:cNvSpPr/>
          <p:nvPr/>
        </p:nvSpPr>
        <p:spPr>
          <a:xfrm>
            <a:off x="914400" y="2059037"/>
            <a:ext cx="285750" cy="247650"/>
          </a:xfrm>
          <a:prstGeom prst="rect">
            <a:avLst/>
          </a:prstGeom>
          <a:noFill/>
          <a:ln/>
        </p:spPr>
        <p:txBody>
          <a:bodyPr wrap="square" lIns="25400" tIns="25400" rIns="25400" bIns="25400" rtlCol="0" anchor="t">
            <a:normAutofit fontScale="92500" lnSpcReduction="20000"/>
          </a:bodyPr>
          <a:lstStyle/>
          <a:p>
            <a:pPr marL="0" indent="0" algn="ctr">
              <a:lnSpc>
                <a:spcPct val="157143"/>
              </a:lnSpc>
              <a:buNone/>
            </a:pPr>
            <a:r>
              <a:rPr lang="en-US" sz="1050" b="1" dirty="0">
                <a:solidFill>
                  <a:srgbClr val="FFFFFF"/>
                </a:solidFill>
                <a:latin typeface="Inter" pitchFamily="34" charset="0"/>
                <a:ea typeface="Inter" pitchFamily="34" charset="-122"/>
                <a:cs typeface="Inter" pitchFamily="34" charset="-120"/>
              </a:rPr>
              <a:t>✓</a:t>
            </a:r>
            <a:endParaRPr lang="en-US" sz="1050" dirty="0"/>
          </a:p>
        </p:txBody>
      </p:sp>
      <p:sp>
        <p:nvSpPr>
          <p:cNvPr id="11" name="Text 9"/>
          <p:cNvSpPr/>
          <p:nvPr/>
        </p:nvSpPr>
        <p:spPr>
          <a:xfrm>
            <a:off x="1257300" y="1987600"/>
            <a:ext cx="8371176"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1F4E79"/>
                </a:solidFill>
                <a:latin typeface="Inter" pitchFamily="34" charset="0"/>
                <a:ea typeface="Inter" pitchFamily="34" charset="-122"/>
                <a:cs typeface="Inter" pitchFamily="34" charset="-120"/>
              </a:rPr>
              <a:t>通信経路のどこで詰まったかを、Loki / cache.log の併読で特定できる。</a:t>
            </a:r>
            <a:endParaRPr lang="en-US" sz="1950" dirty="0"/>
          </a:p>
        </p:txBody>
      </p:sp>
      <p:sp>
        <p:nvSpPr>
          <p:cNvPr id="12" name="Shape 10"/>
          <p:cNvSpPr/>
          <p:nvPr/>
        </p:nvSpPr>
        <p:spPr>
          <a:xfrm>
            <a:off x="952500" y="2473375"/>
            <a:ext cx="8134350" cy="3144738"/>
          </a:xfrm>
          <a:prstGeom prst="rect">
            <a:avLst/>
          </a:prstGeom>
          <a:solidFill>
            <a:srgbClr val="FFFFFF"/>
          </a:solidFill>
          <a:ln w="9525">
            <a:solidFill>
              <a:srgbClr val="E2E5EA"/>
            </a:solidFill>
            <a:prstDash val="solid"/>
          </a:ln>
        </p:spPr>
      </p:sp>
      <p:sp>
        <p:nvSpPr>
          <p:cNvPr id="13" name="Text 11"/>
          <p:cNvSpPr/>
          <p:nvPr/>
        </p:nvSpPr>
        <p:spPr>
          <a:xfrm>
            <a:off x="1095375" y="2578150"/>
            <a:ext cx="1677293" cy="314325"/>
          </a:xfrm>
          <a:prstGeom prst="rect">
            <a:avLst/>
          </a:prstGeom>
          <a:noFill/>
          <a:ln/>
        </p:spPr>
        <p:txBody>
          <a:bodyPr wrap="square" lIns="25400" tIns="25400" rIns="25400" bIns="25400" rtlCol="0" anchor="t">
            <a:normAutofit/>
          </a:bodyPr>
          <a:lstStyle/>
          <a:p>
            <a:pPr marL="0" indent="0" algn="l">
              <a:buNone/>
            </a:pPr>
            <a:r>
              <a:rPr lang="en-US" sz="1500" b="1" kern="0" spc="90" dirty="0">
                <a:solidFill>
                  <a:srgbClr val="6B7B3A"/>
                </a:solidFill>
                <a:latin typeface="Inter" pitchFamily="34" charset="0"/>
                <a:ea typeface="Inter" pitchFamily="34" charset="-122"/>
                <a:cs typeface="Inter" pitchFamily="34" charset="-120"/>
              </a:rPr>
              <a:t>Case A · Proxy1</a:t>
            </a:r>
            <a:endParaRPr lang="en-US" sz="1500" dirty="0"/>
          </a:p>
        </p:txBody>
      </p:sp>
      <p:sp>
        <p:nvSpPr>
          <p:cNvPr id="14" name="Text 12"/>
          <p:cNvSpPr/>
          <p:nvPr/>
        </p:nvSpPr>
        <p:spPr>
          <a:xfrm>
            <a:off x="5954762" y="2578150"/>
            <a:ext cx="3078889" cy="314325"/>
          </a:xfrm>
          <a:prstGeom prst="rect">
            <a:avLst/>
          </a:prstGeom>
          <a:noFill/>
          <a:ln/>
        </p:spPr>
        <p:txBody>
          <a:bodyPr wrap="square" lIns="25400" tIns="25400" rIns="25400" bIns="25400" rtlCol="0" anchor="t">
            <a:normAutofit/>
          </a:bodyPr>
          <a:lstStyle/>
          <a:p>
            <a:pPr marL="0" indent="0" algn="l">
              <a:buNone/>
            </a:pPr>
            <a:r>
              <a:rPr lang="en-US" sz="1500" b="1" kern="0" spc="90" dirty="0">
                <a:solidFill>
                  <a:srgbClr val="3A414A"/>
                </a:solidFill>
                <a:latin typeface="Inter" pitchFamily="34" charset="0"/>
                <a:ea typeface="Inter" pitchFamily="34" charset="-122"/>
                <a:cs typeface="Inter" pitchFamily="34" charset="-120"/>
              </a:rPr>
              <a:t>status=407（入口で認証要求）</a:t>
            </a:r>
            <a:endParaRPr lang="en-US" sz="1500" dirty="0"/>
          </a:p>
        </p:txBody>
      </p:sp>
      <p:sp>
        <p:nvSpPr>
          <p:cNvPr id="15" name="Shape 13"/>
          <p:cNvSpPr/>
          <p:nvPr/>
        </p:nvSpPr>
        <p:spPr>
          <a:xfrm>
            <a:off x="1038225" y="2911525"/>
            <a:ext cx="7962900" cy="2620863"/>
          </a:xfrm>
          <a:prstGeom prst="rect">
            <a:avLst/>
          </a:prstGeom>
          <a:solidFill>
            <a:srgbClr val="0E1116"/>
          </a:solidFill>
          <a:ln/>
        </p:spPr>
      </p:sp>
      <p:pic>
        <p:nvPicPr>
          <p:cNvPr id="16" name="Image 0" descr="preencoded.png"/>
          <p:cNvPicPr>
            <a:picLocks noChangeAspect="1"/>
          </p:cNvPicPr>
          <p:nvPr/>
        </p:nvPicPr>
        <p:blipFill>
          <a:blip r:embed="rId3"/>
          <a:srcRect/>
          <a:stretch/>
        </p:blipFill>
        <p:spPr>
          <a:xfrm>
            <a:off x="1038225" y="2911525"/>
            <a:ext cx="7962900" cy="2620863"/>
          </a:xfrm>
          <a:prstGeom prst="rect">
            <a:avLst/>
          </a:prstGeom>
        </p:spPr>
      </p:pic>
      <p:sp>
        <p:nvSpPr>
          <p:cNvPr id="17" name="Shape 14"/>
          <p:cNvSpPr/>
          <p:nvPr/>
        </p:nvSpPr>
        <p:spPr>
          <a:xfrm>
            <a:off x="9201150" y="2473375"/>
            <a:ext cx="8134350" cy="3144738"/>
          </a:xfrm>
          <a:prstGeom prst="rect">
            <a:avLst/>
          </a:prstGeom>
          <a:solidFill>
            <a:srgbClr val="FFFFFF"/>
          </a:solidFill>
          <a:ln w="9525">
            <a:solidFill>
              <a:srgbClr val="E2E5EA"/>
            </a:solidFill>
            <a:prstDash val="solid"/>
          </a:ln>
        </p:spPr>
      </p:sp>
      <p:sp>
        <p:nvSpPr>
          <p:cNvPr id="18" name="Text 15"/>
          <p:cNvSpPr/>
          <p:nvPr/>
        </p:nvSpPr>
        <p:spPr>
          <a:xfrm>
            <a:off x="9344025" y="2578150"/>
            <a:ext cx="1715095" cy="314325"/>
          </a:xfrm>
          <a:prstGeom prst="rect">
            <a:avLst/>
          </a:prstGeom>
          <a:noFill/>
          <a:ln/>
        </p:spPr>
        <p:txBody>
          <a:bodyPr wrap="square" lIns="25400" tIns="25400" rIns="25400" bIns="25400" rtlCol="0" anchor="t">
            <a:normAutofit/>
          </a:bodyPr>
          <a:lstStyle/>
          <a:p>
            <a:pPr marL="0" indent="0" algn="l">
              <a:buNone/>
            </a:pPr>
            <a:r>
              <a:rPr lang="en-US" sz="1500" b="1" kern="0" spc="90" dirty="0">
                <a:solidFill>
                  <a:srgbClr val="6B7B3A"/>
                </a:solidFill>
                <a:latin typeface="Inter" pitchFamily="34" charset="0"/>
                <a:ea typeface="Inter" pitchFamily="34" charset="-122"/>
                <a:cs typeface="Inter" pitchFamily="34" charset="-120"/>
              </a:rPr>
              <a:t>Case A · Proxy2</a:t>
            </a:r>
            <a:endParaRPr lang="en-US" sz="1500" dirty="0"/>
          </a:p>
        </p:txBody>
      </p:sp>
      <p:sp>
        <p:nvSpPr>
          <p:cNvPr id="19" name="Text 16"/>
          <p:cNvSpPr/>
          <p:nvPr/>
        </p:nvSpPr>
        <p:spPr>
          <a:xfrm>
            <a:off x="13977045" y="2578150"/>
            <a:ext cx="3312048" cy="314325"/>
          </a:xfrm>
          <a:prstGeom prst="rect">
            <a:avLst/>
          </a:prstGeom>
          <a:noFill/>
          <a:ln/>
        </p:spPr>
        <p:txBody>
          <a:bodyPr wrap="square" lIns="25400" tIns="25400" rIns="25400" bIns="25400" rtlCol="0" anchor="t">
            <a:normAutofit/>
          </a:bodyPr>
          <a:lstStyle/>
          <a:p>
            <a:pPr marL="0" indent="0" algn="l">
              <a:buNone/>
            </a:pPr>
            <a:r>
              <a:rPr lang="en-US" sz="1500" b="1" kern="0" spc="90" dirty="0">
                <a:solidFill>
                  <a:srgbClr val="3A414A"/>
                </a:solidFill>
                <a:latin typeface="Inter" pitchFamily="34" charset="0"/>
                <a:ea typeface="Inter" pitchFamily="34" charset="-122"/>
                <a:cs typeface="Inter" pitchFamily="34" charset="-120"/>
              </a:rPr>
              <a:t>No logs found（Proxy2 未到達）</a:t>
            </a:r>
            <a:endParaRPr lang="en-US" sz="1500" dirty="0"/>
          </a:p>
        </p:txBody>
      </p:sp>
      <p:sp>
        <p:nvSpPr>
          <p:cNvPr id="20" name="Shape 17"/>
          <p:cNvSpPr/>
          <p:nvPr/>
        </p:nvSpPr>
        <p:spPr>
          <a:xfrm>
            <a:off x="9286875" y="2911525"/>
            <a:ext cx="7962900" cy="2620863"/>
          </a:xfrm>
          <a:prstGeom prst="rect">
            <a:avLst/>
          </a:prstGeom>
          <a:solidFill>
            <a:srgbClr val="0E1116"/>
          </a:solidFill>
          <a:ln/>
        </p:spPr>
      </p:sp>
      <p:pic>
        <p:nvPicPr>
          <p:cNvPr id="21" name="Image 1" descr="preencoded.png"/>
          <p:cNvPicPr>
            <a:picLocks noChangeAspect="1"/>
          </p:cNvPicPr>
          <p:nvPr/>
        </p:nvPicPr>
        <p:blipFill>
          <a:blip r:embed="rId4"/>
          <a:srcRect/>
          <a:stretch/>
        </p:blipFill>
        <p:spPr>
          <a:xfrm>
            <a:off x="9286875" y="2911525"/>
            <a:ext cx="7962900" cy="2620863"/>
          </a:xfrm>
          <a:prstGeom prst="rect">
            <a:avLst/>
          </a:prstGeom>
        </p:spPr>
      </p:pic>
      <p:sp>
        <p:nvSpPr>
          <p:cNvPr id="22" name="Shape 18"/>
          <p:cNvSpPr/>
          <p:nvPr/>
        </p:nvSpPr>
        <p:spPr>
          <a:xfrm>
            <a:off x="952500" y="5732413"/>
            <a:ext cx="8134350" cy="3144887"/>
          </a:xfrm>
          <a:prstGeom prst="rect">
            <a:avLst/>
          </a:prstGeom>
          <a:solidFill>
            <a:srgbClr val="FFFFFF"/>
          </a:solidFill>
          <a:ln w="9525">
            <a:solidFill>
              <a:srgbClr val="E2E5EA"/>
            </a:solidFill>
            <a:prstDash val="solid"/>
          </a:ln>
        </p:spPr>
      </p:sp>
      <p:sp>
        <p:nvSpPr>
          <p:cNvPr id="23" name="Text 19"/>
          <p:cNvSpPr/>
          <p:nvPr/>
        </p:nvSpPr>
        <p:spPr>
          <a:xfrm>
            <a:off x="1095375" y="5837188"/>
            <a:ext cx="1699022" cy="314325"/>
          </a:xfrm>
          <a:prstGeom prst="rect">
            <a:avLst/>
          </a:prstGeom>
          <a:noFill/>
          <a:ln/>
        </p:spPr>
        <p:txBody>
          <a:bodyPr wrap="square" lIns="25400" tIns="25400" rIns="25400" bIns="25400" rtlCol="0" anchor="t">
            <a:normAutofit/>
          </a:bodyPr>
          <a:lstStyle/>
          <a:p>
            <a:pPr marL="0" indent="0" algn="l">
              <a:buNone/>
            </a:pPr>
            <a:r>
              <a:rPr lang="en-US" sz="1500" b="1" kern="0" spc="90" dirty="0">
                <a:solidFill>
                  <a:srgbClr val="6B7B3A"/>
                </a:solidFill>
                <a:latin typeface="Inter" pitchFamily="34" charset="0"/>
                <a:ea typeface="Inter" pitchFamily="34" charset="-122"/>
                <a:cs typeface="Inter" pitchFamily="34" charset="-120"/>
              </a:rPr>
              <a:t>Case B · Proxy2</a:t>
            </a:r>
            <a:endParaRPr lang="en-US" sz="1500" dirty="0"/>
          </a:p>
        </p:txBody>
      </p:sp>
      <p:sp>
        <p:nvSpPr>
          <p:cNvPr id="24" name="Text 20"/>
          <p:cNvSpPr/>
          <p:nvPr/>
        </p:nvSpPr>
        <p:spPr>
          <a:xfrm>
            <a:off x="5939582" y="5837188"/>
            <a:ext cx="3094525" cy="314325"/>
          </a:xfrm>
          <a:prstGeom prst="rect">
            <a:avLst/>
          </a:prstGeom>
          <a:noFill/>
          <a:ln/>
        </p:spPr>
        <p:txBody>
          <a:bodyPr wrap="square" lIns="25400" tIns="25400" rIns="25400" bIns="25400" rtlCol="0" anchor="t">
            <a:normAutofit/>
          </a:bodyPr>
          <a:lstStyle/>
          <a:p>
            <a:pPr marL="0" indent="0" algn="l">
              <a:buNone/>
            </a:pPr>
            <a:r>
              <a:rPr lang="en-US" sz="1500" b="1" kern="0" spc="90" dirty="0">
                <a:solidFill>
                  <a:srgbClr val="3A414A"/>
                </a:solidFill>
                <a:latin typeface="Inter" pitchFamily="34" charset="0"/>
                <a:ea typeface="Inter" pitchFamily="34" charset="-122"/>
                <a:cs typeface="Inter" pitchFamily="34" charset="-120"/>
              </a:rPr>
              <a:t>status=403（直行経路で拒否）</a:t>
            </a:r>
            <a:endParaRPr lang="en-US" sz="1500" dirty="0"/>
          </a:p>
        </p:txBody>
      </p:sp>
      <p:sp>
        <p:nvSpPr>
          <p:cNvPr id="25" name="Shape 21"/>
          <p:cNvSpPr/>
          <p:nvPr/>
        </p:nvSpPr>
        <p:spPr>
          <a:xfrm>
            <a:off x="1038225" y="6170563"/>
            <a:ext cx="7962900" cy="2621012"/>
          </a:xfrm>
          <a:prstGeom prst="rect">
            <a:avLst/>
          </a:prstGeom>
          <a:solidFill>
            <a:srgbClr val="0E1116"/>
          </a:solidFill>
          <a:ln/>
        </p:spPr>
      </p:sp>
      <p:pic>
        <p:nvPicPr>
          <p:cNvPr id="26" name="Image 2" descr="preencoded.png"/>
          <p:cNvPicPr>
            <a:picLocks noChangeAspect="1"/>
          </p:cNvPicPr>
          <p:nvPr/>
        </p:nvPicPr>
        <p:blipFill>
          <a:blip r:embed="rId5"/>
          <a:srcRect/>
          <a:stretch/>
        </p:blipFill>
        <p:spPr>
          <a:xfrm>
            <a:off x="1038225" y="6170563"/>
            <a:ext cx="7962900" cy="2621012"/>
          </a:xfrm>
          <a:prstGeom prst="rect">
            <a:avLst/>
          </a:prstGeom>
        </p:spPr>
      </p:pic>
      <p:sp>
        <p:nvSpPr>
          <p:cNvPr id="27" name="Shape 22"/>
          <p:cNvSpPr/>
          <p:nvPr/>
        </p:nvSpPr>
        <p:spPr>
          <a:xfrm>
            <a:off x="9201150" y="5732413"/>
            <a:ext cx="8134350" cy="3144887"/>
          </a:xfrm>
          <a:prstGeom prst="rect">
            <a:avLst/>
          </a:prstGeom>
          <a:solidFill>
            <a:srgbClr val="FFFFFF"/>
          </a:solidFill>
          <a:ln w="9525">
            <a:solidFill>
              <a:srgbClr val="E2E5EA"/>
            </a:solidFill>
            <a:prstDash val="solid"/>
          </a:ln>
        </p:spPr>
      </p:sp>
      <p:sp>
        <p:nvSpPr>
          <p:cNvPr id="28" name="Text 23"/>
          <p:cNvSpPr/>
          <p:nvPr/>
        </p:nvSpPr>
        <p:spPr>
          <a:xfrm>
            <a:off x="9344025" y="5837188"/>
            <a:ext cx="1999804" cy="314325"/>
          </a:xfrm>
          <a:prstGeom prst="rect">
            <a:avLst/>
          </a:prstGeom>
          <a:noFill/>
          <a:ln/>
        </p:spPr>
        <p:txBody>
          <a:bodyPr wrap="square" lIns="25400" tIns="25400" rIns="25400" bIns="25400" rtlCol="0" anchor="t">
            <a:normAutofit/>
          </a:bodyPr>
          <a:lstStyle/>
          <a:p>
            <a:pPr marL="0" indent="0" algn="l">
              <a:buNone/>
            </a:pPr>
            <a:r>
              <a:rPr lang="en-US" sz="1500" b="1" kern="0" spc="90" dirty="0">
                <a:solidFill>
                  <a:srgbClr val="6B7B3A"/>
                </a:solidFill>
                <a:latin typeface="Inter" pitchFamily="34" charset="0"/>
                <a:ea typeface="Inter" pitchFamily="34" charset="-122"/>
                <a:cs typeface="Inter" pitchFamily="34" charset="-120"/>
              </a:rPr>
              <a:t>Case B · cache.log</a:t>
            </a:r>
            <a:endParaRPr lang="en-US" sz="1500" dirty="0"/>
          </a:p>
        </p:txBody>
      </p:sp>
      <p:sp>
        <p:nvSpPr>
          <p:cNvPr id="29" name="Text 24"/>
          <p:cNvSpPr/>
          <p:nvPr/>
        </p:nvSpPr>
        <p:spPr>
          <a:xfrm>
            <a:off x="13857982" y="5837188"/>
            <a:ext cx="3434682" cy="314325"/>
          </a:xfrm>
          <a:prstGeom prst="rect">
            <a:avLst/>
          </a:prstGeom>
          <a:noFill/>
          <a:ln/>
        </p:spPr>
        <p:txBody>
          <a:bodyPr wrap="square" lIns="25400" tIns="25400" rIns="25400" bIns="25400" rtlCol="0" anchor="t">
            <a:normAutofit/>
          </a:bodyPr>
          <a:lstStyle/>
          <a:p>
            <a:pPr marL="0" indent="0" algn="l">
              <a:buNone/>
            </a:pPr>
            <a:r>
              <a:rPr lang="en-US" sz="1500" b="1" kern="0" spc="90" dirty="0">
                <a:solidFill>
                  <a:srgbClr val="3A414A"/>
                </a:solidFill>
                <a:latin typeface="Inter" pitchFamily="34" charset="0"/>
                <a:ea typeface="Inter" pitchFamily="34" charset="-122"/>
                <a:cs typeface="Inter" pitchFamily="34" charset="-120"/>
              </a:rPr>
              <a:t>ACLs failed to match（拒否理由）</a:t>
            </a:r>
            <a:endParaRPr lang="en-US" sz="1500" dirty="0"/>
          </a:p>
        </p:txBody>
      </p:sp>
      <p:sp>
        <p:nvSpPr>
          <p:cNvPr id="30" name="Shape 25"/>
          <p:cNvSpPr/>
          <p:nvPr/>
        </p:nvSpPr>
        <p:spPr>
          <a:xfrm>
            <a:off x="9286875" y="6170563"/>
            <a:ext cx="7962900" cy="2621012"/>
          </a:xfrm>
          <a:prstGeom prst="rect">
            <a:avLst/>
          </a:prstGeom>
          <a:solidFill>
            <a:srgbClr val="0E1116"/>
          </a:solidFill>
          <a:ln/>
        </p:spPr>
      </p:sp>
      <p:pic>
        <p:nvPicPr>
          <p:cNvPr id="31" name="Image 3" descr="preencoded.png"/>
          <p:cNvPicPr>
            <a:picLocks noChangeAspect="1"/>
          </p:cNvPicPr>
          <p:nvPr/>
        </p:nvPicPr>
        <p:blipFill>
          <a:blip r:embed="rId6"/>
          <a:srcRect/>
          <a:stretch/>
        </p:blipFill>
        <p:spPr>
          <a:xfrm>
            <a:off x="9286875" y="6170563"/>
            <a:ext cx="7962900" cy="2621012"/>
          </a:xfrm>
          <a:prstGeom prst="rect">
            <a:avLst/>
          </a:prstGeom>
        </p:spPr>
      </p:pic>
      <p:sp>
        <p:nvSpPr>
          <p:cNvPr id="32" name="Text 26"/>
          <p:cNvSpPr/>
          <p:nvPr/>
        </p:nvSpPr>
        <p:spPr>
          <a:xfrm>
            <a:off x="952500" y="8953500"/>
            <a:ext cx="16874490"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dirty="0">
                <a:solidFill>
                  <a:srgbClr val="6B7280"/>
                </a:solidFill>
                <a:latin typeface="Inter" pitchFamily="34" charset="0"/>
                <a:ea typeface="Inter" pitchFamily="34" charset="-122"/>
                <a:cs typeface="Inter" pitchFamily="34" charset="-120"/>
              </a:rPr>
              <a:t>Case A：Proxy1 で 407／Proxy2 未到達。 Case B：Proxy2 で 403／cache.log で ACL 拒否を確認。</a:t>
            </a:r>
            <a:endParaRPr lang="en-US" sz="1500" dirty="0"/>
          </a:p>
        </p:txBody>
      </p:sp>
      <p:sp>
        <p:nvSpPr>
          <p:cNvPr id="33" name="Text 27"/>
          <p:cNvSpPr/>
          <p:nvPr/>
        </p:nvSpPr>
        <p:spPr>
          <a:xfrm>
            <a:off x="952500" y="9763125"/>
            <a:ext cx="2747930"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MULTIPROXY · gan2</a:t>
            </a:r>
            <a:endParaRPr lang="en-US" sz="1800" dirty="0"/>
          </a:p>
        </p:txBody>
      </p:sp>
      <p:sp>
        <p:nvSpPr>
          <p:cNvPr id="34" name="Text 28"/>
          <p:cNvSpPr/>
          <p:nvPr/>
        </p:nvSpPr>
        <p:spPr>
          <a:xfrm>
            <a:off x="9310539" y="9763125"/>
            <a:ext cx="1501527"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Log Triage</a:t>
            </a:r>
            <a:endParaRPr lang="en-US" sz="1800" dirty="0"/>
          </a:p>
        </p:txBody>
      </p:sp>
      <p:sp>
        <p:nvSpPr>
          <p:cNvPr id="35" name="Text 29"/>
          <p:cNvSpPr/>
          <p:nvPr/>
        </p:nvSpPr>
        <p:spPr>
          <a:xfrm>
            <a:off x="16426011" y="9763125"/>
            <a:ext cx="985689"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07/10</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6"/>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4EE"/>
          </a:solidFill>
          <a:ln/>
        </p:spPr>
      </p:sp>
      <p:sp>
        <p:nvSpPr>
          <p:cNvPr id="3" name="Shape 1"/>
          <p:cNvSpPr/>
          <p:nvPr/>
        </p:nvSpPr>
        <p:spPr>
          <a:xfrm>
            <a:off x="952500" y="1114425"/>
            <a:ext cx="476250" cy="19050"/>
          </a:xfrm>
          <a:prstGeom prst="rect">
            <a:avLst/>
          </a:prstGeom>
          <a:solidFill>
            <a:srgbClr val="B6802A"/>
          </a:solidFill>
          <a:ln/>
        </p:spPr>
      </p:sp>
      <p:sp>
        <p:nvSpPr>
          <p:cNvPr id="4" name="Text 2"/>
          <p:cNvSpPr/>
          <p:nvPr/>
        </p:nvSpPr>
        <p:spPr>
          <a:xfrm>
            <a:off x="914400" y="781050"/>
            <a:ext cx="552450" cy="333375"/>
          </a:xfrm>
          <a:prstGeom prst="rect">
            <a:avLst/>
          </a:prstGeom>
          <a:noFill/>
          <a:ln/>
        </p:spPr>
        <p:txBody>
          <a:bodyPr wrap="square" lIns="25400" tIns="25400" rIns="25400" bIns="25400" rtlCol="0" anchor="t">
            <a:normAutofit lnSpcReduction="10000"/>
          </a:bodyPr>
          <a:lstStyle/>
          <a:p>
            <a:pPr marL="0" indent="0" algn="ctr">
              <a:buNone/>
            </a:pPr>
            <a:r>
              <a:rPr lang="en-US" sz="1950" b="1" kern="0" spc="351" dirty="0">
                <a:solidFill>
                  <a:srgbClr val="B6802A"/>
                </a:solidFill>
                <a:latin typeface="Inter" pitchFamily="34" charset="0"/>
                <a:ea typeface="Inter" pitchFamily="34" charset="-122"/>
                <a:cs typeface="Inter" pitchFamily="34" charset="-120"/>
              </a:rPr>
              <a:t>07</a:t>
            </a:r>
            <a:endParaRPr lang="en-US" sz="1950" dirty="0"/>
          </a:p>
        </p:txBody>
      </p:sp>
      <p:sp>
        <p:nvSpPr>
          <p:cNvPr id="5" name="Text 3"/>
          <p:cNvSpPr/>
          <p:nvPr/>
        </p:nvSpPr>
        <p:spPr>
          <a:xfrm>
            <a:off x="1562100" y="781050"/>
            <a:ext cx="6008318" cy="390525"/>
          </a:xfrm>
          <a:prstGeom prst="rect">
            <a:avLst/>
          </a:prstGeom>
          <a:noFill/>
          <a:ln/>
        </p:spPr>
        <p:txBody>
          <a:bodyPr wrap="square" lIns="25400" tIns="25400" rIns="25400" bIns="25400" rtlCol="0" anchor="t">
            <a:normAutofit/>
          </a:bodyPr>
          <a:lstStyle/>
          <a:p>
            <a:pPr marL="0" indent="0" algn="l">
              <a:buNone/>
            </a:pPr>
            <a:r>
              <a:rPr lang="en-US" sz="1950" b="1" kern="0" spc="312" dirty="0">
                <a:solidFill>
                  <a:srgbClr val="B6802A"/>
                </a:solidFill>
                <a:latin typeface="Inter" pitchFamily="34" charset="0"/>
                <a:ea typeface="Inter" pitchFamily="34" charset="-122"/>
                <a:cs typeface="Inter" pitchFamily="34" charset="-120"/>
              </a:rPr>
              <a:t>REPRODUCIBILITY — 再現性 EVIDENCE</a:t>
            </a:r>
            <a:endParaRPr lang="en-US" sz="1950" dirty="0"/>
          </a:p>
        </p:txBody>
      </p:sp>
      <p:sp>
        <p:nvSpPr>
          <p:cNvPr id="6" name="Shape 4"/>
          <p:cNvSpPr/>
          <p:nvPr/>
        </p:nvSpPr>
        <p:spPr>
          <a:xfrm>
            <a:off x="7528768" y="742950"/>
            <a:ext cx="1668810" cy="428625"/>
          </a:xfrm>
          <a:prstGeom prst="rect">
            <a:avLst/>
          </a:prstGeom>
          <a:solidFill>
            <a:srgbClr val="E8EFE2"/>
          </a:solidFill>
          <a:ln/>
        </p:spPr>
      </p:sp>
      <p:sp>
        <p:nvSpPr>
          <p:cNvPr id="7" name="Text 5"/>
          <p:cNvSpPr/>
          <p:nvPr/>
        </p:nvSpPr>
        <p:spPr>
          <a:xfrm>
            <a:off x="7643068" y="790575"/>
            <a:ext cx="1516410" cy="371475"/>
          </a:xfrm>
          <a:prstGeom prst="rect">
            <a:avLst/>
          </a:prstGeom>
          <a:noFill/>
          <a:ln/>
        </p:spPr>
        <p:txBody>
          <a:bodyPr wrap="square" lIns="25400" tIns="25400" rIns="25400" bIns="25400" rtlCol="0" anchor="t">
            <a:normAutofit/>
          </a:bodyPr>
          <a:lstStyle/>
          <a:p>
            <a:pPr marL="0" indent="0" algn="l">
              <a:buNone/>
            </a:pPr>
            <a:r>
              <a:rPr lang="en-US" sz="1800" b="1" kern="0" spc="90" dirty="0">
                <a:solidFill>
                  <a:srgbClr val="3F5E22"/>
                </a:solidFill>
                <a:latin typeface="Inter" pitchFamily="34" charset="0"/>
                <a:ea typeface="Inter" pitchFamily="34" charset="-122"/>
                <a:cs typeface="Inter" pitchFamily="34" charset="-120"/>
              </a:rPr>
              <a:t>実装・検証済</a:t>
            </a:r>
            <a:endParaRPr lang="en-US" sz="1800" dirty="0"/>
          </a:p>
        </p:txBody>
      </p:sp>
      <p:sp>
        <p:nvSpPr>
          <p:cNvPr id="8" name="Text 6"/>
          <p:cNvSpPr/>
          <p:nvPr/>
        </p:nvSpPr>
        <p:spPr>
          <a:xfrm>
            <a:off x="952500" y="1381125"/>
            <a:ext cx="16874490" cy="572542"/>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3450" b="1" dirty="0">
                <a:solidFill>
                  <a:srgbClr val="0E1116"/>
                </a:solidFill>
                <a:latin typeface="Noto Serif JP" pitchFamily="34" charset="0"/>
                <a:ea typeface="Noto Serif JP" pitchFamily="34" charset="-122"/>
                <a:cs typeface="Noto Serif JP" pitchFamily="34" charset="-120"/>
              </a:rPr>
              <a:t>環境破棄から、約25分で「検証可能状態」まで戻せる（実測 22:51）。</a:t>
            </a:r>
            <a:endParaRPr lang="en-US" sz="3450" dirty="0"/>
          </a:p>
        </p:txBody>
      </p:sp>
      <p:sp>
        <p:nvSpPr>
          <p:cNvPr id="9" name="Shape 7"/>
          <p:cNvSpPr/>
          <p:nvPr/>
        </p:nvSpPr>
        <p:spPr>
          <a:xfrm>
            <a:off x="952500" y="2082254"/>
            <a:ext cx="209550" cy="209550"/>
          </a:xfrm>
          <a:prstGeom prst="ellipse">
            <a:avLst/>
          </a:prstGeom>
          <a:solidFill>
            <a:srgbClr val="1F4E79"/>
          </a:solidFill>
          <a:ln/>
        </p:spPr>
      </p:sp>
      <p:sp>
        <p:nvSpPr>
          <p:cNvPr id="10" name="Text 8"/>
          <p:cNvSpPr/>
          <p:nvPr/>
        </p:nvSpPr>
        <p:spPr>
          <a:xfrm>
            <a:off x="914400" y="2082254"/>
            <a:ext cx="285750" cy="247650"/>
          </a:xfrm>
          <a:prstGeom prst="rect">
            <a:avLst/>
          </a:prstGeom>
          <a:noFill/>
          <a:ln/>
        </p:spPr>
        <p:txBody>
          <a:bodyPr wrap="square" lIns="25400" tIns="25400" rIns="25400" bIns="25400" rtlCol="0" anchor="t">
            <a:normAutofit fontScale="92500" lnSpcReduction="20000"/>
          </a:bodyPr>
          <a:lstStyle/>
          <a:p>
            <a:pPr marL="0" indent="0" algn="ctr">
              <a:lnSpc>
                <a:spcPct val="157143"/>
              </a:lnSpc>
              <a:buNone/>
            </a:pPr>
            <a:r>
              <a:rPr lang="en-US" sz="1050" b="1" dirty="0">
                <a:solidFill>
                  <a:srgbClr val="FFFFFF"/>
                </a:solidFill>
                <a:latin typeface="Inter" pitchFamily="34" charset="0"/>
                <a:ea typeface="Inter" pitchFamily="34" charset="-122"/>
                <a:cs typeface="Inter" pitchFamily="34" charset="-120"/>
              </a:rPr>
              <a:t>✓</a:t>
            </a:r>
            <a:endParaRPr lang="en-US" sz="1050" dirty="0"/>
          </a:p>
        </p:txBody>
      </p:sp>
      <p:sp>
        <p:nvSpPr>
          <p:cNvPr id="11" name="Text 9"/>
          <p:cNvSpPr/>
          <p:nvPr/>
        </p:nvSpPr>
        <p:spPr>
          <a:xfrm>
            <a:off x="1257300" y="2010817"/>
            <a:ext cx="8001586"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1F4E79"/>
                </a:solidFill>
                <a:latin typeface="Inter" pitchFamily="34" charset="0"/>
                <a:ea typeface="Inter" pitchFamily="34" charset="-122"/>
                <a:cs typeface="Inter" pitchFamily="34" charset="-120"/>
              </a:rPr>
              <a:t>Proxy / 認証 / DNS / ログ / 監視まで、再現性ある手順で復元できる。</a:t>
            </a:r>
            <a:endParaRPr lang="en-US" sz="1950" dirty="0"/>
          </a:p>
        </p:txBody>
      </p:sp>
      <p:sp>
        <p:nvSpPr>
          <p:cNvPr id="12" name="Shape 10"/>
          <p:cNvSpPr/>
          <p:nvPr/>
        </p:nvSpPr>
        <p:spPr>
          <a:xfrm>
            <a:off x="952500" y="2496592"/>
            <a:ext cx="8501658" cy="6742658"/>
          </a:xfrm>
          <a:prstGeom prst="rect">
            <a:avLst/>
          </a:prstGeom>
          <a:solidFill>
            <a:srgbClr val="FFFFFF"/>
          </a:solidFill>
          <a:ln w="9525">
            <a:solidFill>
              <a:srgbClr val="E2E5EA"/>
            </a:solidFill>
            <a:prstDash val="solid"/>
          </a:ln>
        </p:spPr>
      </p:sp>
      <p:sp>
        <p:nvSpPr>
          <p:cNvPr id="13" name="Text 11"/>
          <p:cNvSpPr/>
          <p:nvPr/>
        </p:nvSpPr>
        <p:spPr>
          <a:xfrm>
            <a:off x="1114425" y="2620417"/>
            <a:ext cx="8427714" cy="314325"/>
          </a:xfrm>
          <a:prstGeom prst="rect">
            <a:avLst/>
          </a:prstGeom>
          <a:noFill/>
          <a:ln/>
        </p:spPr>
        <p:txBody>
          <a:bodyPr wrap="square" lIns="25400" tIns="25400" rIns="25400" bIns="25400" rtlCol="0" anchor="t">
            <a:normAutofit/>
          </a:bodyPr>
          <a:lstStyle/>
          <a:p>
            <a:pPr marL="0" indent="0" algn="l">
              <a:buNone/>
            </a:pPr>
            <a:r>
              <a:rPr lang="en-US" sz="1500" b="1" kern="0" spc="90" dirty="0">
                <a:solidFill>
                  <a:srgbClr val="B6802A"/>
                </a:solidFill>
                <a:latin typeface="Inter" pitchFamily="34" charset="0"/>
                <a:ea typeface="Inter" pitchFamily="34" charset="-122"/>
                <a:cs typeface="Inter" pitchFamily="34" charset="-120"/>
              </a:rPr>
              <a:t>STEP 0–17 完走サマリ（all-in-one：実測 22:51）</a:t>
            </a:r>
            <a:endParaRPr lang="en-US" sz="1500" dirty="0"/>
          </a:p>
        </p:txBody>
      </p:sp>
      <p:sp>
        <p:nvSpPr>
          <p:cNvPr id="14" name="Shape 12"/>
          <p:cNvSpPr/>
          <p:nvPr/>
        </p:nvSpPr>
        <p:spPr>
          <a:xfrm>
            <a:off x="1038225" y="2953792"/>
            <a:ext cx="8330208" cy="6199733"/>
          </a:xfrm>
          <a:prstGeom prst="rect">
            <a:avLst/>
          </a:prstGeom>
          <a:solidFill>
            <a:srgbClr val="0E1116"/>
          </a:solidFill>
          <a:ln/>
        </p:spPr>
      </p:sp>
      <p:sp>
        <p:nvSpPr>
          <p:cNvPr id="15" name="Shape 13"/>
          <p:cNvSpPr/>
          <p:nvPr/>
        </p:nvSpPr>
        <p:spPr>
          <a:xfrm>
            <a:off x="1038225" y="2953792"/>
            <a:ext cx="8330208" cy="6199733"/>
          </a:xfrm>
          <a:prstGeom prst="rect">
            <a:avLst/>
          </a:prstGeom>
          <a:solidFill>
            <a:srgbClr val="0E1116"/>
          </a:solidFill>
          <a:ln/>
        </p:spPr>
      </p:sp>
      <p:pic>
        <p:nvPicPr>
          <p:cNvPr id="16" name="Image 0" descr="preencoded.png"/>
          <p:cNvPicPr>
            <a:picLocks noChangeAspect="1"/>
          </p:cNvPicPr>
          <p:nvPr/>
        </p:nvPicPr>
        <p:blipFill>
          <a:blip r:embed="rId3"/>
          <a:srcRect/>
          <a:stretch/>
        </p:blipFill>
        <p:spPr>
          <a:xfrm>
            <a:off x="1038225" y="2953792"/>
            <a:ext cx="8330208" cy="6199733"/>
          </a:xfrm>
          <a:prstGeom prst="rect">
            <a:avLst/>
          </a:prstGeom>
        </p:spPr>
      </p:pic>
      <p:sp>
        <p:nvSpPr>
          <p:cNvPr id="17" name="Shape 14"/>
          <p:cNvSpPr/>
          <p:nvPr/>
        </p:nvSpPr>
        <p:spPr>
          <a:xfrm>
            <a:off x="9606558" y="2496592"/>
            <a:ext cx="7728942" cy="5828258"/>
          </a:xfrm>
          <a:prstGeom prst="rect">
            <a:avLst/>
          </a:prstGeom>
          <a:solidFill>
            <a:srgbClr val="FFFFFF"/>
          </a:solidFill>
          <a:ln w="9525">
            <a:solidFill>
              <a:srgbClr val="E2E5EA"/>
            </a:solidFill>
            <a:prstDash val="solid"/>
          </a:ln>
        </p:spPr>
      </p:sp>
      <p:sp>
        <p:nvSpPr>
          <p:cNvPr id="18" name="Text 15"/>
          <p:cNvSpPr/>
          <p:nvPr/>
        </p:nvSpPr>
        <p:spPr>
          <a:xfrm>
            <a:off x="9768483" y="2620417"/>
            <a:ext cx="7631817" cy="314325"/>
          </a:xfrm>
          <a:prstGeom prst="rect">
            <a:avLst/>
          </a:prstGeom>
          <a:noFill/>
          <a:ln/>
        </p:spPr>
        <p:txBody>
          <a:bodyPr wrap="square" lIns="25400" tIns="25400" rIns="25400" bIns="25400" rtlCol="0" anchor="t">
            <a:normAutofit/>
          </a:bodyPr>
          <a:lstStyle/>
          <a:p>
            <a:pPr marL="0" indent="0" algn="l">
              <a:buNone/>
            </a:pPr>
            <a:r>
              <a:rPr lang="en-US" sz="1500" b="1" kern="0" spc="90" dirty="0">
                <a:solidFill>
                  <a:srgbClr val="B6802A"/>
                </a:solidFill>
                <a:latin typeface="Inter" pitchFamily="34" charset="0"/>
                <a:ea typeface="Inter" pitchFamily="34" charset="-122"/>
                <a:cs typeface="Inter" pitchFamily="34" charset="-120"/>
              </a:rPr>
              <a:t>ヘルスチェック：Proxy / Auth / DNS / Log / Monitoring が all OK</a:t>
            </a:r>
            <a:endParaRPr lang="en-US" sz="1500" dirty="0"/>
          </a:p>
        </p:txBody>
      </p:sp>
      <p:sp>
        <p:nvSpPr>
          <p:cNvPr id="19" name="Shape 16"/>
          <p:cNvSpPr/>
          <p:nvPr/>
        </p:nvSpPr>
        <p:spPr>
          <a:xfrm>
            <a:off x="9692283" y="2953792"/>
            <a:ext cx="7557492" cy="5285333"/>
          </a:xfrm>
          <a:prstGeom prst="rect">
            <a:avLst/>
          </a:prstGeom>
          <a:solidFill>
            <a:srgbClr val="0E1116"/>
          </a:solidFill>
          <a:ln/>
        </p:spPr>
      </p:sp>
      <p:sp>
        <p:nvSpPr>
          <p:cNvPr id="20" name="Shape 17"/>
          <p:cNvSpPr/>
          <p:nvPr/>
        </p:nvSpPr>
        <p:spPr>
          <a:xfrm>
            <a:off x="9692283" y="2953792"/>
            <a:ext cx="7557492" cy="5285333"/>
          </a:xfrm>
          <a:prstGeom prst="rect">
            <a:avLst/>
          </a:prstGeom>
          <a:solidFill>
            <a:srgbClr val="0E1116"/>
          </a:solidFill>
          <a:ln/>
        </p:spPr>
      </p:sp>
      <p:pic>
        <p:nvPicPr>
          <p:cNvPr id="21" name="Image 1" descr="preencoded.png"/>
          <p:cNvPicPr>
            <a:picLocks noChangeAspect="1"/>
          </p:cNvPicPr>
          <p:nvPr/>
        </p:nvPicPr>
        <p:blipFill>
          <a:blip r:embed="rId4"/>
          <a:srcRect/>
          <a:stretch/>
        </p:blipFill>
        <p:spPr>
          <a:xfrm>
            <a:off x="9692283" y="2953792"/>
            <a:ext cx="7557492" cy="5285333"/>
          </a:xfrm>
          <a:prstGeom prst="rect">
            <a:avLst/>
          </a:prstGeom>
        </p:spPr>
      </p:pic>
      <p:sp>
        <p:nvSpPr>
          <p:cNvPr id="22" name="Shape 18"/>
          <p:cNvSpPr/>
          <p:nvPr/>
        </p:nvSpPr>
        <p:spPr>
          <a:xfrm>
            <a:off x="9606558" y="8439150"/>
            <a:ext cx="7728942" cy="800100"/>
          </a:xfrm>
          <a:prstGeom prst="rect">
            <a:avLst/>
          </a:prstGeom>
          <a:solidFill>
            <a:srgbClr val="FFF8F2"/>
          </a:solidFill>
          <a:ln w="9525">
            <a:solidFill>
              <a:srgbClr val="B6802A">
                <a:alpha val="20000"/>
              </a:srgbClr>
            </a:solidFill>
            <a:prstDash val="solid"/>
          </a:ln>
        </p:spPr>
      </p:sp>
      <p:sp>
        <p:nvSpPr>
          <p:cNvPr id="23" name="Text 19"/>
          <p:cNvSpPr/>
          <p:nvPr/>
        </p:nvSpPr>
        <p:spPr>
          <a:xfrm>
            <a:off x="9749433" y="8543925"/>
            <a:ext cx="7675060" cy="628650"/>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500" dirty="0">
                <a:solidFill>
                  <a:srgbClr val="3A414A"/>
                </a:solidFill>
                <a:latin typeface="Inter" pitchFamily="34" charset="0"/>
                <a:ea typeface="Inter" pitchFamily="34" charset="-122"/>
                <a:cs typeface="Inter" pitchFamily="34" charset="-120"/>
              </a:rPr>
              <a:t>「検証可能状態」の定義：Proxy / 認証 / DNS / PAC / 暗号化 / ログ収集 / 監視まで含めて正常性確認が取れた状態。</a:t>
            </a:r>
            <a:endParaRPr lang="en-US" sz="1500" dirty="0"/>
          </a:p>
        </p:txBody>
      </p:sp>
      <p:sp>
        <p:nvSpPr>
          <p:cNvPr id="24" name="Text 20"/>
          <p:cNvSpPr/>
          <p:nvPr/>
        </p:nvSpPr>
        <p:spPr>
          <a:xfrm>
            <a:off x="952500" y="9763125"/>
            <a:ext cx="2747930"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MULTIPROXY · gan2</a:t>
            </a:r>
            <a:endParaRPr lang="en-US" sz="1800" dirty="0"/>
          </a:p>
        </p:txBody>
      </p:sp>
      <p:sp>
        <p:nvSpPr>
          <p:cNvPr id="25" name="Text 21"/>
          <p:cNvSpPr/>
          <p:nvPr/>
        </p:nvSpPr>
        <p:spPr>
          <a:xfrm>
            <a:off x="9003506" y="9763125"/>
            <a:ext cx="2099072"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Reproducibility</a:t>
            </a:r>
            <a:endParaRPr lang="en-US" sz="1800" dirty="0"/>
          </a:p>
        </p:txBody>
      </p:sp>
      <p:sp>
        <p:nvSpPr>
          <p:cNvPr id="26" name="Text 22"/>
          <p:cNvSpPr/>
          <p:nvPr/>
        </p:nvSpPr>
        <p:spPr>
          <a:xfrm>
            <a:off x="16409491" y="9763125"/>
            <a:ext cx="1002209"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08/10</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116"/>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6F4EE"/>
          </a:solidFill>
          <a:ln/>
        </p:spPr>
      </p:sp>
      <p:sp>
        <p:nvSpPr>
          <p:cNvPr id="3" name="Shape 1"/>
          <p:cNvSpPr/>
          <p:nvPr/>
        </p:nvSpPr>
        <p:spPr>
          <a:xfrm>
            <a:off x="952500" y="1114425"/>
            <a:ext cx="476250" cy="19050"/>
          </a:xfrm>
          <a:prstGeom prst="rect">
            <a:avLst/>
          </a:prstGeom>
          <a:solidFill>
            <a:srgbClr val="1F4E79"/>
          </a:solidFill>
          <a:ln/>
        </p:spPr>
      </p:sp>
      <p:sp>
        <p:nvSpPr>
          <p:cNvPr id="4" name="Text 2"/>
          <p:cNvSpPr/>
          <p:nvPr/>
        </p:nvSpPr>
        <p:spPr>
          <a:xfrm>
            <a:off x="914400" y="781050"/>
            <a:ext cx="552450" cy="333375"/>
          </a:xfrm>
          <a:prstGeom prst="rect">
            <a:avLst/>
          </a:prstGeom>
          <a:noFill/>
          <a:ln/>
        </p:spPr>
        <p:txBody>
          <a:bodyPr wrap="square" lIns="25400" tIns="25400" rIns="25400" bIns="25400" rtlCol="0" anchor="t">
            <a:normAutofit lnSpcReduction="10000"/>
          </a:bodyPr>
          <a:lstStyle/>
          <a:p>
            <a:pPr marL="0" indent="0" algn="ctr">
              <a:buNone/>
            </a:pPr>
            <a:r>
              <a:rPr lang="en-US" sz="1950" b="1" kern="0" spc="351" dirty="0">
                <a:solidFill>
                  <a:srgbClr val="1F4E79"/>
                </a:solidFill>
                <a:latin typeface="Inter" pitchFamily="34" charset="0"/>
                <a:ea typeface="Inter" pitchFamily="34" charset="-122"/>
                <a:cs typeface="Inter" pitchFamily="34" charset="-120"/>
              </a:rPr>
              <a:t>08</a:t>
            </a:r>
            <a:endParaRPr lang="en-US" sz="1950" dirty="0"/>
          </a:p>
        </p:txBody>
      </p:sp>
      <p:sp>
        <p:nvSpPr>
          <p:cNvPr id="5" name="Text 3"/>
          <p:cNvSpPr/>
          <p:nvPr/>
        </p:nvSpPr>
        <p:spPr>
          <a:xfrm>
            <a:off x="1562100" y="781050"/>
            <a:ext cx="7065120" cy="390525"/>
          </a:xfrm>
          <a:prstGeom prst="rect">
            <a:avLst/>
          </a:prstGeom>
          <a:noFill/>
          <a:ln/>
        </p:spPr>
        <p:txBody>
          <a:bodyPr wrap="square" lIns="25400" tIns="25400" rIns="25400" bIns="25400" rtlCol="0" anchor="t">
            <a:normAutofit/>
          </a:bodyPr>
          <a:lstStyle/>
          <a:p>
            <a:pPr marL="0" indent="0" algn="l">
              <a:buNone/>
            </a:pPr>
            <a:r>
              <a:rPr lang="en-US" sz="1950" b="1" kern="0" spc="312" dirty="0">
                <a:solidFill>
                  <a:srgbClr val="1F4E79"/>
                </a:solidFill>
                <a:latin typeface="Inter" pitchFamily="34" charset="0"/>
                <a:ea typeface="Inter" pitchFamily="34" charset="-122"/>
                <a:cs typeface="Inter" pitchFamily="34" charset="-120"/>
              </a:rPr>
              <a:t>AWS MIGRATION PLAN — 設計のみ・実装未実施</a:t>
            </a:r>
            <a:endParaRPr lang="en-US" sz="1950" dirty="0"/>
          </a:p>
        </p:txBody>
      </p:sp>
      <p:sp>
        <p:nvSpPr>
          <p:cNvPr id="6" name="Shape 4"/>
          <p:cNvSpPr/>
          <p:nvPr/>
        </p:nvSpPr>
        <p:spPr>
          <a:xfrm>
            <a:off x="8554789" y="742950"/>
            <a:ext cx="2628900" cy="428625"/>
          </a:xfrm>
          <a:prstGeom prst="rect">
            <a:avLst/>
          </a:prstGeom>
          <a:solidFill>
            <a:srgbClr val="E5EAF1"/>
          </a:solidFill>
          <a:ln/>
        </p:spPr>
      </p:sp>
      <p:sp>
        <p:nvSpPr>
          <p:cNvPr id="7" name="Text 5"/>
          <p:cNvSpPr/>
          <p:nvPr/>
        </p:nvSpPr>
        <p:spPr>
          <a:xfrm>
            <a:off x="8669089" y="790575"/>
            <a:ext cx="2479167" cy="371475"/>
          </a:xfrm>
          <a:prstGeom prst="rect">
            <a:avLst/>
          </a:prstGeom>
          <a:noFill/>
          <a:ln/>
        </p:spPr>
        <p:txBody>
          <a:bodyPr wrap="square" lIns="25400" tIns="25400" rIns="25400" bIns="25400" rtlCol="0" anchor="t">
            <a:normAutofit/>
          </a:bodyPr>
          <a:lstStyle/>
          <a:p>
            <a:pPr marL="0" indent="0" algn="l">
              <a:buNone/>
            </a:pPr>
            <a:r>
              <a:rPr lang="en-US" sz="1800" b="1" kern="0" spc="90" dirty="0">
                <a:solidFill>
                  <a:srgbClr val="1F4E79"/>
                </a:solidFill>
                <a:latin typeface="Inter" pitchFamily="34" charset="0"/>
                <a:ea typeface="Inter" pitchFamily="34" charset="-122"/>
                <a:cs typeface="Inter" pitchFamily="34" charset="-120"/>
              </a:rPr>
              <a:t>設計のみ・実装未実施</a:t>
            </a:r>
            <a:endParaRPr lang="en-US" sz="1800" dirty="0"/>
          </a:p>
        </p:txBody>
      </p:sp>
      <p:sp>
        <p:nvSpPr>
          <p:cNvPr id="8" name="Text 6"/>
          <p:cNvSpPr/>
          <p:nvPr/>
        </p:nvSpPr>
        <p:spPr>
          <a:xfrm>
            <a:off x="952500" y="1381125"/>
            <a:ext cx="16874490" cy="549325"/>
          </a:xfrm>
          <a:prstGeom prst="rect">
            <a:avLst/>
          </a:prstGeom>
          <a:noFill/>
          <a:ln/>
        </p:spPr>
        <p:txBody>
          <a:bodyPr wrap="square" lIns="25400" tIns="25400" rIns="25400" bIns="25400" rtlCol="0" anchor="t">
            <a:normAutofit fontScale="92500" lnSpcReduction="20000"/>
          </a:bodyPr>
          <a:lstStyle/>
          <a:p>
            <a:pPr marL="0" indent="0" algn="l">
              <a:lnSpc>
                <a:spcPct val="122000"/>
              </a:lnSpc>
              <a:buNone/>
            </a:pPr>
            <a:r>
              <a:rPr lang="en-US" sz="3300" b="1" dirty="0">
                <a:solidFill>
                  <a:srgbClr val="0E1116"/>
                </a:solidFill>
                <a:latin typeface="Noto Serif JP" pitchFamily="34" charset="0"/>
                <a:ea typeface="Noto Serif JP" pitchFamily="34" charset="-122"/>
                <a:cs typeface="Noto Serif JP" pitchFamily="34" charset="-120"/>
              </a:rPr>
              <a:t>同じ責務分離を、AWS 上の構成へ段階的に写像する設計案。</a:t>
            </a:r>
            <a:endParaRPr lang="en-US" sz="3300" dirty="0"/>
          </a:p>
        </p:txBody>
      </p:sp>
      <p:sp>
        <p:nvSpPr>
          <p:cNvPr id="9" name="Shape 7"/>
          <p:cNvSpPr/>
          <p:nvPr/>
        </p:nvSpPr>
        <p:spPr>
          <a:xfrm>
            <a:off x="952500" y="2059037"/>
            <a:ext cx="209550" cy="209550"/>
          </a:xfrm>
          <a:prstGeom prst="ellipse">
            <a:avLst/>
          </a:prstGeom>
          <a:solidFill>
            <a:srgbClr val="1F4E79"/>
          </a:solidFill>
          <a:ln/>
        </p:spPr>
      </p:sp>
      <p:sp>
        <p:nvSpPr>
          <p:cNvPr id="10" name="Text 8"/>
          <p:cNvSpPr/>
          <p:nvPr/>
        </p:nvSpPr>
        <p:spPr>
          <a:xfrm>
            <a:off x="914400" y="2059037"/>
            <a:ext cx="285750" cy="247650"/>
          </a:xfrm>
          <a:prstGeom prst="rect">
            <a:avLst/>
          </a:prstGeom>
          <a:noFill/>
          <a:ln/>
        </p:spPr>
        <p:txBody>
          <a:bodyPr wrap="square" lIns="25400" tIns="25400" rIns="25400" bIns="25400" rtlCol="0" anchor="t">
            <a:normAutofit fontScale="92500" lnSpcReduction="20000"/>
          </a:bodyPr>
          <a:lstStyle/>
          <a:p>
            <a:pPr marL="0" indent="0" algn="ctr">
              <a:lnSpc>
                <a:spcPct val="157143"/>
              </a:lnSpc>
              <a:buNone/>
            </a:pPr>
            <a:r>
              <a:rPr lang="en-US" sz="1050" b="1" dirty="0">
                <a:solidFill>
                  <a:srgbClr val="FFFFFF"/>
                </a:solidFill>
                <a:latin typeface="Inter" pitchFamily="34" charset="0"/>
                <a:ea typeface="Inter" pitchFamily="34" charset="-122"/>
                <a:cs typeface="Inter" pitchFamily="34" charset="-120"/>
              </a:rPr>
              <a:t>✓</a:t>
            </a:r>
            <a:endParaRPr lang="en-US" sz="1050" dirty="0"/>
          </a:p>
        </p:txBody>
      </p:sp>
      <p:sp>
        <p:nvSpPr>
          <p:cNvPr id="11" name="Text 9"/>
          <p:cNvSpPr/>
          <p:nvPr/>
        </p:nvSpPr>
        <p:spPr>
          <a:xfrm>
            <a:off x="1257300" y="1987600"/>
            <a:ext cx="10925190"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1F4E79"/>
                </a:solidFill>
                <a:latin typeface="Inter" pitchFamily="34" charset="0"/>
                <a:ea typeface="Inter" pitchFamily="34" charset="-122"/>
                <a:cs typeface="Inter" pitchFamily="34" charset="-120"/>
              </a:rPr>
              <a:t>AWS実機は未構築だが、責務分離は OSS 側で動かしているため設計判断を自分で説明できる。</a:t>
            </a:r>
            <a:endParaRPr lang="en-US" sz="1950" dirty="0"/>
          </a:p>
        </p:txBody>
      </p:sp>
      <p:sp>
        <p:nvSpPr>
          <p:cNvPr id="12" name="Shape 10"/>
          <p:cNvSpPr/>
          <p:nvPr/>
        </p:nvSpPr>
        <p:spPr>
          <a:xfrm>
            <a:off x="952500" y="2511475"/>
            <a:ext cx="8096250" cy="6146750"/>
          </a:xfrm>
          <a:prstGeom prst="rect">
            <a:avLst/>
          </a:prstGeom>
          <a:solidFill>
            <a:srgbClr val="FFFFFF"/>
          </a:solidFill>
          <a:ln w="9525">
            <a:solidFill>
              <a:srgbClr val="E2E5EA"/>
            </a:solidFill>
            <a:prstDash val="solid"/>
          </a:ln>
        </p:spPr>
      </p:sp>
      <p:sp>
        <p:nvSpPr>
          <p:cNvPr id="13" name="Text 11"/>
          <p:cNvSpPr/>
          <p:nvPr/>
        </p:nvSpPr>
        <p:spPr>
          <a:xfrm>
            <a:off x="1190625" y="2711500"/>
            <a:ext cx="7848600" cy="371475"/>
          </a:xfrm>
          <a:prstGeom prst="rect">
            <a:avLst/>
          </a:prstGeom>
          <a:noFill/>
          <a:ln/>
        </p:spPr>
        <p:txBody>
          <a:bodyPr wrap="square" lIns="25400" tIns="25400" rIns="25400" bIns="25400" rtlCol="0" anchor="t">
            <a:normAutofit/>
          </a:bodyPr>
          <a:lstStyle/>
          <a:p>
            <a:pPr marL="0" indent="0" algn="l">
              <a:buNone/>
            </a:pPr>
            <a:r>
              <a:rPr lang="en-US" sz="1800" b="1" kern="0" spc="288" dirty="0">
                <a:solidFill>
                  <a:srgbClr val="1F4E79"/>
                </a:solidFill>
                <a:latin typeface="Inter" pitchFamily="34" charset="0"/>
                <a:ea typeface="Inter" pitchFamily="34" charset="-122"/>
                <a:cs typeface="Inter" pitchFamily="34" charset="-120"/>
              </a:rPr>
              <a:t>責務の写像</a:t>
            </a:r>
            <a:endParaRPr lang="en-US" sz="1800" dirty="0"/>
          </a:p>
        </p:txBody>
      </p:sp>
      <p:sp>
        <p:nvSpPr>
          <p:cNvPr id="14" name="Shape 12"/>
          <p:cNvSpPr/>
          <p:nvPr/>
        </p:nvSpPr>
        <p:spPr>
          <a:xfrm>
            <a:off x="1190625" y="3159175"/>
            <a:ext cx="28575" cy="1076920"/>
          </a:xfrm>
          <a:prstGeom prst="rect">
            <a:avLst/>
          </a:prstGeom>
          <a:solidFill>
            <a:srgbClr val="C8401F"/>
          </a:solidFill>
          <a:ln/>
        </p:spPr>
      </p:sp>
      <p:sp>
        <p:nvSpPr>
          <p:cNvPr id="15" name="Text 13"/>
          <p:cNvSpPr/>
          <p:nvPr/>
        </p:nvSpPr>
        <p:spPr>
          <a:xfrm>
            <a:off x="1314450" y="3159175"/>
            <a:ext cx="3747707" cy="39707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b="1" dirty="0">
                <a:solidFill>
                  <a:srgbClr val="0E1116"/>
                </a:solidFill>
                <a:latin typeface="Inter" pitchFamily="34" charset="0"/>
                <a:ea typeface="Inter" pitchFamily="34" charset="-122"/>
                <a:cs typeface="Inter" pitchFamily="34" charset="-120"/>
              </a:rPr>
              <a:t>認証</a:t>
            </a:r>
            <a:endParaRPr lang="en-US" sz="1950" dirty="0"/>
          </a:p>
        </p:txBody>
      </p:sp>
      <p:sp>
        <p:nvSpPr>
          <p:cNvPr id="16" name="Text 14"/>
          <p:cNvSpPr/>
          <p:nvPr/>
        </p:nvSpPr>
        <p:spPr>
          <a:xfrm>
            <a:off x="1314450" y="3518148"/>
            <a:ext cx="3747707" cy="756047"/>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950" dirty="0">
                <a:solidFill>
                  <a:srgbClr val="3A414A"/>
                </a:solidFill>
                <a:latin typeface="Inter" pitchFamily="34" charset="0"/>
                <a:ea typeface="Inter" pitchFamily="34" charset="-122"/>
                <a:cs typeface="Inter" pitchFamily="34" charset="-120"/>
              </a:rPr>
              <a:t>AD Connector → オンプレ AD/DC</a:t>
            </a:r>
            <a:endParaRPr lang="en-US" sz="1950" dirty="0"/>
          </a:p>
        </p:txBody>
      </p:sp>
      <p:sp>
        <p:nvSpPr>
          <p:cNvPr id="17" name="Shape 15"/>
          <p:cNvSpPr/>
          <p:nvPr/>
        </p:nvSpPr>
        <p:spPr>
          <a:xfrm>
            <a:off x="5048250" y="3159175"/>
            <a:ext cx="28575" cy="1076920"/>
          </a:xfrm>
          <a:prstGeom prst="rect">
            <a:avLst/>
          </a:prstGeom>
          <a:solidFill>
            <a:srgbClr val="C8401F"/>
          </a:solidFill>
          <a:ln/>
        </p:spPr>
      </p:sp>
      <p:sp>
        <p:nvSpPr>
          <p:cNvPr id="18" name="Text 16"/>
          <p:cNvSpPr/>
          <p:nvPr/>
        </p:nvSpPr>
        <p:spPr>
          <a:xfrm>
            <a:off x="5172075" y="3159175"/>
            <a:ext cx="3747707" cy="39707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b="1" dirty="0">
                <a:solidFill>
                  <a:srgbClr val="0E1116"/>
                </a:solidFill>
                <a:latin typeface="Inter" pitchFamily="34" charset="0"/>
                <a:ea typeface="Inter" pitchFamily="34" charset="-122"/>
                <a:cs typeface="Inter" pitchFamily="34" charset="-120"/>
              </a:rPr>
              <a:t>ログ</a:t>
            </a:r>
            <a:endParaRPr lang="en-US" sz="1950" dirty="0"/>
          </a:p>
        </p:txBody>
      </p:sp>
      <p:sp>
        <p:nvSpPr>
          <p:cNvPr id="19" name="Text 17"/>
          <p:cNvSpPr/>
          <p:nvPr/>
        </p:nvSpPr>
        <p:spPr>
          <a:xfrm>
            <a:off x="5172075" y="3518148"/>
            <a:ext cx="3747707" cy="39707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dirty="0">
                <a:solidFill>
                  <a:srgbClr val="3A414A"/>
                </a:solidFill>
                <a:latin typeface="Inter" pitchFamily="34" charset="0"/>
                <a:ea typeface="Inter" pitchFamily="34" charset="-122"/>
                <a:cs typeface="Inter" pitchFamily="34" charset="-120"/>
              </a:rPr>
              <a:t>CloudWatch Logs / S3</a:t>
            </a:r>
            <a:endParaRPr lang="en-US" sz="1950" dirty="0"/>
          </a:p>
        </p:txBody>
      </p:sp>
      <p:sp>
        <p:nvSpPr>
          <p:cNvPr id="20" name="Shape 18"/>
          <p:cNvSpPr/>
          <p:nvPr/>
        </p:nvSpPr>
        <p:spPr>
          <a:xfrm>
            <a:off x="1190625" y="4331345"/>
            <a:ext cx="28575" cy="717947"/>
          </a:xfrm>
          <a:prstGeom prst="rect">
            <a:avLst/>
          </a:prstGeom>
          <a:solidFill>
            <a:srgbClr val="C8401F"/>
          </a:solidFill>
          <a:ln/>
        </p:spPr>
      </p:sp>
      <p:sp>
        <p:nvSpPr>
          <p:cNvPr id="21" name="Text 19"/>
          <p:cNvSpPr/>
          <p:nvPr/>
        </p:nvSpPr>
        <p:spPr>
          <a:xfrm>
            <a:off x="1314450" y="4331345"/>
            <a:ext cx="3747707" cy="39707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b="1" dirty="0">
                <a:solidFill>
                  <a:srgbClr val="0E1116"/>
                </a:solidFill>
                <a:latin typeface="Inter" pitchFamily="34" charset="0"/>
                <a:ea typeface="Inter" pitchFamily="34" charset="-122"/>
                <a:cs typeface="Inter" pitchFamily="34" charset="-120"/>
              </a:rPr>
              <a:t>運用</a:t>
            </a:r>
            <a:endParaRPr lang="en-US" sz="1950" dirty="0"/>
          </a:p>
        </p:txBody>
      </p:sp>
      <p:sp>
        <p:nvSpPr>
          <p:cNvPr id="22" name="Text 20"/>
          <p:cNvSpPr/>
          <p:nvPr/>
        </p:nvSpPr>
        <p:spPr>
          <a:xfrm>
            <a:off x="1314450" y="4690318"/>
            <a:ext cx="3747707" cy="39707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dirty="0">
                <a:solidFill>
                  <a:srgbClr val="3A414A"/>
                </a:solidFill>
                <a:latin typeface="Inter" pitchFamily="34" charset="0"/>
                <a:ea typeface="Inter" pitchFamily="34" charset="-122"/>
                <a:cs typeface="Inter" pitchFamily="34" charset="-120"/>
              </a:rPr>
              <a:t>SSM Session Manager</a:t>
            </a:r>
            <a:endParaRPr lang="en-US" sz="1950" dirty="0"/>
          </a:p>
        </p:txBody>
      </p:sp>
      <p:sp>
        <p:nvSpPr>
          <p:cNvPr id="23" name="Shape 21"/>
          <p:cNvSpPr/>
          <p:nvPr/>
        </p:nvSpPr>
        <p:spPr>
          <a:xfrm>
            <a:off x="5048250" y="4331345"/>
            <a:ext cx="28575" cy="717947"/>
          </a:xfrm>
          <a:prstGeom prst="rect">
            <a:avLst/>
          </a:prstGeom>
          <a:solidFill>
            <a:srgbClr val="C8401F"/>
          </a:solidFill>
          <a:ln/>
        </p:spPr>
      </p:sp>
      <p:sp>
        <p:nvSpPr>
          <p:cNvPr id="24" name="Text 22"/>
          <p:cNvSpPr/>
          <p:nvPr/>
        </p:nvSpPr>
        <p:spPr>
          <a:xfrm>
            <a:off x="5172075" y="4331345"/>
            <a:ext cx="3747707" cy="39707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b="1" dirty="0">
                <a:solidFill>
                  <a:srgbClr val="0E1116"/>
                </a:solidFill>
                <a:latin typeface="Inter" pitchFamily="34" charset="0"/>
                <a:ea typeface="Inter" pitchFamily="34" charset="-122"/>
                <a:cs typeface="Inter" pitchFamily="34" charset="-120"/>
              </a:rPr>
              <a:t>接続</a:t>
            </a:r>
            <a:endParaRPr lang="en-US" sz="1950" dirty="0"/>
          </a:p>
        </p:txBody>
      </p:sp>
      <p:sp>
        <p:nvSpPr>
          <p:cNvPr id="25" name="Text 23"/>
          <p:cNvSpPr/>
          <p:nvPr/>
        </p:nvSpPr>
        <p:spPr>
          <a:xfrm>
            <a:off x="5172075" y="4690318"/>
            <a:ext cx="3747707" cy="39707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dirty="0">
                <a:solidFill>
                  <a:srgbClr val="3A414A"/>
                </a:solidFill>
                <a:latin typeface="Inter" pitchFamily="34" charset="0"/>
                <a:ea typeface="Inter" pitchFamily="34" charset="-122"/>
                <a:cs typeface="Inter" pitchFamily="34" charset="-120"/>
              </a:rPr>
              <a:t>Client VPN（唯一の入口）</a:t>
            </a:r>
            <a:endParaRPr lang="en-US" sz="1950" dirty="0"/>
          </a:p>
        </p:txBody>
      </p:sp>
      <p:sp>
        <p:nvSpPr>
          <p:cNvPr id="26" name="Shape 24"/>
          <p:cNvSpPr/>
          <p:nvPr/>
        </p:nvSpPr>
        <p:spPr>
          <a:xfrm>
            <a:off x="1190625" y="5144542"/>
            <a:ext cx="28575" cy="1076920"/>
          </a:xfrm>
          <a:prstGeom prst="rect">
            <a:avLst/>
          </a:prstGeom>
          <a:solidFill>
            <a:srgbClr val="C8401F"/>
          </a:solidFill>
          <a:ln/>
        </p:spPr>
      </p:sp>
      <p:sp>
        <p:nvSpPr>
          <p:cNvPr id="27" name="Text 25"/>
          <p:cNvSpPr/>
          <p:nvPr/>
        </p:nvSpPr>
        <p:spPr>
          <a:xfrm>
            <a:off x="1314450" y="5144542"/>
            <a:ext cx="3747707" cy="39707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b="1" dirty="0">
                <a:solidFill>
                  <a:srgbClr val="0E1116"/>
                </a:solidFill>
                <a:latin typeface="Inter" pitchFamily="34" charset="0"/>
                <a:ea typeface="Inter" pitchFamily="34" charset="-122"/>
                <a:cs typeface="Inter" pitchFamily="34" charset="-120"/>
              </a:rPr>
              <a:t>PAC配布</a:t>
            </a:r>
            <a:endParaRPr lang="en-US" sz="1950" dirty="0"/>
          </a:p>
        </p:txBody>
      </p:sp>
      <p:sp>
        <p:nvSpPr>
          <p:cNvPr id="28" name="Text 26"/>
          <p:cNvSpPr/>
          <p:nvPr/>
        </p:nvSpPr>
        <p:spPr>
          <a:xfrm>
            <a:off x="1314450" y="5503515"/>
            <a:ext cx="3747707" cy="39707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dirty="0">
                <a:solidFill>
                  <a:srgbClr val="3A414A"/>
                </a:solidFill>
                <a:latin typeface="Inter" pitchFamily="34" charset="0"/>
                <a:ea typeface="Inter" pitchFamily="34" charset="-122"/>
                <a:cs typeface="Inter" pitchFamily="34" charset="-120"/>
              </a:rPr>
              <a:t>CloudFront + S3</a:t>
            </a:r>
            <a:endParaRPr lang="en-US" sz="1950" dirty="0"/>
          </a:p>
        </p:txBody>
      </p:sp>
      <p:sp>
        <p:nvSpPr>
          <p:cNvPr id="29" name="Shape 27"/>
          <p:cNvSpPr/>
          <p:nvPr/>
        </p:nvSpPr>
        <p:spPr>
          <a:xfrm>
            <a:off x="5048250" y="5144542"/>
            <a:ext cx="28575" cy="1076920"/>
          </a:xfrm>
          <a:prstGeom prst="rect">
            <a:avLst/>
          </a:prstGeom>
          <a:solidFill>
            <a:srgbClr val="C8401F"/>
          </a:solidFill>
          <a:ln/>
        </p:spPr>
      </p:sp>
      <p:sp>
        <p:nvSpPr>
          <p:cNvPr id="30" name="Text 28"/>
          <p:cNvSpPr/>
          <p:nvPr/>
        </p:nvSpPr>
        <p:spPr>
          <a:xfrm>
            <a:off x="5172075" y="5144542"/>
            <a:ext cx="3747707" cy="39707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b="1" dirty="0">
                <a:solidFill>
                  <a:srgbClr val="0E1116"/>
                </a:solidFill>
                <a:latin typeface="Inter" pitchFamily="34" charset="0"/>
                <a:ea typeface="Inter" pitchFamily="34" charset="-122"/>
                <a:cs typeface="Inter" pitchFamily="34" charset="-120"/>
              </a:rPr>
              <a:t>Proxy</a:t>
            </a:r>
            <a:endParaRPr lang="en-US" sz="1950" dirty="0"/>
          </a:p>
        </p:txBody>
      </p:sp>
      <p:sp>
        <p:nvSpPr>
          <p:cNvPr id="31" name="Text 29"/>
          <p:cNvSpPr/>
          <p:nvPr/>
        </p:nvSpPr>
        <p:spPr>
          <a:xfrm>
            <a:off x="5172075" y="5503515"/>
            <a:ext cx="3747707" cy="756047"/>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dirty="0">
                <a:solidFill>
                  <a:srgbClr val="3A414A"/>
                </a:solidFill>
                <a:latin typeface="Inter" pitchFamily="34" charset="0"/>
                <a:ea typeface="Inter" pitchFamily="34" charset="-122"/>
                <a:cs typeface="Inter" pitchFamily="34" charset="-120"/>
              </a:rPr>
              <a:t>Phase 2 で ALB + Auto Scaling を検討</a:t>
            </a:r>
            <a:endParaRPr lang="en-US" sz="1950" dirty="0"/>
          </a:p>
        </p:txBody>
      </p:sp>
      <p:sp>
        <p:nvSpPr>
          <p:cNvPr id="32" name="Shape 30"/>
          <p:cNvSpPr/>
          <p:nvPr/>
        </p:nvSpPr>
        <p:spPr>
          <a:xfrm>
            <a:off x="9239250" y="2511475"/>
            <a:ext cx="8096250" cy="6146750"/>
          </a:xfrm>
          <a:prstGeom prst="rect">
            <a:avLst/>
          </a:prstGeom>
          <a:solidFill>
            <a:srgbClr val="FFFFFF"/>
          </a:solidFill>
          <a:ln w="9525">
            <a:solidFill>
              <a:srgbClr val="E2E5EA"/>
            </a:solidFill>
            <a:prstDash val="solid"/>
          </a:ln>
        </p:spPr>
      </p:sp>
      <p:sp>
        <p:nvSpPr>
          <p:cNvPr id="33" name="Text 31"/>
          <p:cNvSpPr/>
          <p:nvPr/>
        </p:nvSpPr>
        <p:spPr>
          <a:xfrm>
            <a:off x="9477375" y="2711500"/>
            <a:ext cx="7848600" cy="371475"/>
          </a:xfrm>
          <a:prstGeom prst="rect">
            <a:avLst/>
          </a:prstGeom>
          <a:noFill/>
          <a:ln/>
        </p:spPr>
        <p:txBody>
          <a:bodyPr wrap="square" lIns="25400" tIns="25400" rIns="25400" bIns="25400" rtlCol="0" anchor="t">
            <a:normAutofit/>
          </a:bodyPr>
          <a:lstStyle/>
          <a:p>
            <a:pPr marL="0" indent="0" algn="l">
              <a:buNone/>
            </a:pPr>
            <a:r>
              <a:rPr lang="en-US" sz="1800" b="1" kern="0" spc="288" dirty="0">
                <a:solidFill>
                  <a:srgbClr val="1F4E79"/>
                </a:solidFill>
                <a:latin typeface="Inter" pitchFamily="34" charset="0"/>
                <a:ea typeface="Inter" pitchFamily="34" charset="-122"/>
                <a:cs typeface="Inter" pitchFamily="34" charset="-120"/>
              </a:rPr>
              <a:t>段階導入の方針</a:t>
            </a:r>
            <a:endParaRPr lang="en-US" sz="1800" dirty="0"/>
          </a:p>
        </p:txBody>
      </p:sp>
      <p:sp>
        <p:nvSpPr>
          <p:cNvPr id="34" name="Shape 32"/>
          <p:cNvSpPr/>
          <p:nvPr/>
        </p:nvSpPr>
        <p:spPr>
          <a:xfrm>
            <a:off x="9477375" y="3178225"/>
            <a:ext cx="38100" cy="657225"/>
          </a:xfrm>
          <a:prstGeom prst="rect">
            <a:avLst/>
          </a:prstGeom>
          <a:solidFill>
            <a:srgbClr val="6B7B3A"/>
          </a:solidFill>
          <a:ln/>
        </p:spPr>
      </p:sp>
      <p:sp>
        <p:nvSpPr>
          <p:cNvPr id="35" name="Text 33"/>
          <p:cNvSpPr/>
          <p:nvPr/>
        </p:nvSpPr>
        <p:spPr>
          <a:xfrm>
            <a:off x="9629775" y="3178225"/>
            <a:ext cx="7691628" cy="333375"/>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0E1116"/>
                </a:solidFill>
                <a:latin typeface="Inter" pitchFamily="34" charset="0"/>
                <a:ea typeface="Inter" pitchFamily="34" charset="-122"/>
                <a:cs typeface="Inter" pitchFamily="34" charset="-120"/>
              </a:rPr>
              <a:t>Phase 1</a:t>
            </a:r>
            <a:endParaRPr lang="en-US" sz="1950" dirty="0"/>
          </a:p>
        </p:txBody>
      </p:sp>
      <p:sp>
        <p:nvSpPr>
          <p:cNvPr id="36" name="Text 34"/>
          <p:cNvSpPr/>
          <p:nvPr/>
        </p:nvSpPr>
        <p:spPr>
          <a:xfrm>
            <a:off x="9629775" y="3492550"/>
            <a:ext cx="7691628"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3A414A"/>
                </a:solidFill>
                <a:latin typeface="Inter" pitchFamily="34" charset="0"/>
                <a:ea typeface="Inter" pitchFamily="34" charset="-122"/>
                <a:cs typeface="Inter" pitchFamily="34" charset="-120"/>
              </a:rPr>
              <a:t>1AZ最小構成（Proxy1台・CloudWatch Logs / SSM の最小検証）</a:t>
            </a:r>
            <a:endParaRPr lang="en-US" sz="1800" dirty="0"/>
          </a:p>
        </p:txBody>
      </p:sp>
      <p:sp>
        <p:nvSpPr>
          <p:cNvPr id="37" name="Shape 35"/>
          <p:cNvSpPr/>
          <p:nvPr/>
        </p:nvSpPr>
        <p:spPr>
          <a:xfrm>
            <a:off x="9477375" y="3930700"/>
            <a:ext cx="38100" cy="657225"/>
          </a:xfrm>
          <a:prstGeom prst="rect">
            <a:avLst/>
          </a:prstGeom>
          <a:solidFill>
            <a:srgbClr val="1F4E79"/>
          </a:solidFill>
          <a:ln/>
        </p:spPr>
      </p:sp>
      <p:sp>
        <p:nvSpPr>
          <p:cNvPr id="38" name="Text 36"/>
          <p:cNvSpPr/>
          <p:nvPr/>
        </p:nvSpPr>
        <p:spPr>
          <a:xfrm>
            <a:off x="9629775" y="3930700"/>
            <a:ext cx="7691628" cy="333375"/>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0E1116"/>
                </a:solidFill>
                <a:latin typeface="Inter" pitchFamily="34" charset="0"/>
                <a:ea typeface="Inter" pitchFamily="34" charset="-122"/>
                <a:cs typeface="Inter" pitchFamily="34" charset="-120"/>
              </a:rPr>
              <a:t>Phase 2</a:t>
            </a:r>
            <a:endParaRPr lang="en-US" sz="1950" dirty="0"/>
          </a:p>
        </p:txBody>
      </p:sp>
      <p:sp>
        <p:nvSpPr>
          <p:cNvPr id="39" name="Text 37"/>
          <p:cNvSpPr/>
          <p:nvPr/>
        </p:nvSpPr>
        <p:spPr>
          <a:xfrm>
            <a:off x="9629775" y="4245025"/>
            <a:ext cx="7691628"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3A414A"/>
                </a:solidFill>
                <a:latin typeface="Inter" pitchFamily="34" charset="0"/>
                <a:ea typeface="Inter" pitchFamily="34" charset="-122"/>
                <a:cs typeface="Inter" pitchFamily="34" charset="-120"/>
              </a:rPr>
              <a:t>2AZ標準化（要件に応じて ALB + Auto Scaling を検討）</a:t>
            </a:r>
            <a:endParaRPr lang="en-US" sz="1800" dirty="0"/>
          </a:p>
        </p:txBody>
      </p:sp>
      <p:sp>
        <p:nvSpPr>
          <p:cNvPr id="40" name="Shape 38"/>
          <p:cNvSpPr/>
          <p:nvPr/>
        </p:nvSpPr>
        <p:spPr>
          <a:xfrm>
            <a:off x="9477375" y="4683175"/>
            <a:ext cx="38100" cy="657225"/>
          </a:xfrm>
          <a:prstGeom prst="rect">
            <a:avLst/>
          </a:prstGeom>
          <a:solidFill>
            <a:srgbClr val="C8401F"/>
          </a:solidFill>
          <a:ln/>
        </p:spPr>
      </p:sp>
      <p:sp>
        <p:nvSpPr>
          <p:cNvPr id="41" name="Text 39"/>
          <p:cNvSpPr/>
          <p:nvPr/>
        </p:nvSpPr>
        <p:spPr>
          <a:xfrm>
            <a:off x="9629775" y="4683175"/>
            <a:ext cx="7691628" cy="333375"/>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0E1116"/>
                </a:solidFill>
                <a:latin typeface="Inter" pitchFamily="34" charset="0"/>
                <a:ea typeface="Inter" pitchFamily="34" charset="-122"/>
                <a:cs typeface="Inter" pitchFamily="34" charset="-120"/>
              </a:rPr>
              <a:t>Phase 3</a:t>
            </a:r>
            <a:endParaRPr lang="en-US" sz="1950" dirty="0"/>
          </a:p>
        </p:txBody>
      </p:sp>
      <p:sp>
        <p:nvSpPr>
          <p:cNvPr id="42" name="Text 40"/>
          <p:cNvSpPr/>
          <p:nvPr/>
        </p:nvSpPr>
        <p:spPr>
          <a:xfrm>
            <a:off x="9629775" y="4997500"/>
            <a:ext cx="7691628"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3A414A"/>
                </a:solidFill>
                <a:latin typeface="Inter" pitchFamily="34" charset="0"/>
                <a:ea typeface="Inter" pitchFamily="34" charset="-122"/>
                <a:cs typeface="Inter" pitchFamily="34" charset="-120"/>
              </a:rPr>
              <a:t>OpenSearch 等を追加（監査・拡張）</a:t>
            </a:r>
            <a:endParaRPr lang="en-US" sz="1800" dirty="0"/>
          </a:p>
        </p:txBody>
      </p:sp>
      <p:sp>
        <p:nvSpPr>
          <p:cNvPr id="43" name="Shape 41"/>
          <p:cNvSpPr/>
          <p:nvPr/>
        </p:nvSpPr>
        <p:spPr>
          <a:xfrm>
            <a:off x="952500" y="8753475"/>
            <a:ext cx="16383000" cy="485775"/>
          </a:xfrm>
          <a:prstGeom prst="rect">
            <a:avLst/>
          </a:prstGeom>
          <a:solidFill>
            <a:srgbClr val="E5EAF1"/>
          </a:solidFill>
          <a:ln w="9525">
            <a:solidFill>
              <a:srgbClr val="1F4E79">
                <a:alpha val="20000"/>
              </a:srgbClr>
            </a:solidFill>
            <a:prstDash val="solid"/>
          </a:ln>
        </p:spPr>
      </p:sp>
      <p:sp>
        <p:nvSpPr>
          <p:cNvPr id="44" name="Text 42"/>
          <p:cNvSpPr/>
          <p:nvPr/>
        </p:nvSpPr>
        <p:spPr>
          <a:xfrm>
            <a:off x="1114425" y="8858250"/>
            <a:ext cx="16550640" cy="314325"/>
          </a:xfrm>
          <a:prstGeom prst="rect">
            <a:avLst/>
          </a:prstGeom>
          <a:noFill/>
          <a:ln/>
        </p:spPr>
        <p:txBody>
          <a:bodyPr wrap="square" lIns="25400" tIns="25400" rIns="25400" bIns="25400" rtlCol="0" anchor="t">
            <a:normAutofit/>
          </a:bodyPr>
          <a:lstStyle/>
          <a:p>
            <a:pPr marL="0" indent="0" algn="l">
              <a:buNone/>
            </a:pPr>
            <a:r>
              <a:rPr lang="en-US" sz="1500" b="1" kern="0" spc="60" dirty="0">
                <a:solidFill>
                  <a:srgbClr val="1F4E79"/>
                </a:solidFill>
                <a:latin typeface="Inter" pitchFamily="34" charset="0"/>
                <a:ea typeface="Inter" pitchFamily="34" charset="-122"/>
                <a:cs typeface="Inter" pitchFamily="34" charset="-120"/>
              </a:rPr>
              <a:t>AWS移行設計案 ／ 設計のみ・実装未実施 ／ AWS実機構築は未実施</a:t>
            </a:r>
            <a:endParaRPr lang="en-US" sz="1500" dirty="0"/>
          </a:p>
        </p:txBody>
      </p:sp>
      <p:sp>
        <p:nvSpPr>
          <p:cNvPr id="45" name="Text 43"/>
          <p:cNvSpPr/>
          <p:nvPr/>
        </p:nvSpPr>
        <p:spPr>
          <a:xfrm>
            <a:off x="952500" y="9763125"/>
            <a:ext cx="2747930"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MULTIPROXY · gan2</a:t>
            </a:r>
            <a:endParaRPr lang="en-US" sz="1800" dirty="0"/>
          </a:p>
        </p:txBody>
      </p:sp>
      <p:sp>
        <p:nvSpPr>
          <p:cNvPr id="46" name="Text 44"/>
          <p:cNvSpPr/>
          <p:nvPr/>
        </p:nvSpPr>
        <p:spPr>
          <a:xfrm>
            <a:off x="9382125" y="9763125"/>
            <a:ext cx="1341537"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AWS Plan</a:t>
            </a:r>
            <a:endParaRPr lang="en-US" sz="1800" dirty="0"/>
          </a:p>
        </p:txBody>
      </p:sp>
      <p:sp>
        <p:nvSpPr>
          <p:cNvPr id="47" name="Text 45"/>
          <p:cNvSpPr/>
          <p:nvPr/>
        </p:nvSpPr>
        <p:spPr>
          <a:xfrm>
            <a:off x="16409045" y="9763125"/>
            <a:ext cx="1002655" cy="31432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6B7280"/>
                </a:solidFill>
                <a:latin typeface="Inter" pitchFamily="34" charset="0"/>
                <a:ea typeface="Inter" pitchFamily="34" charset="-122"/>
                <a:cs typeface="Inter" pitchFamily="34" charset="-120"/>
              </a:rPr>
              <a:t>09/10</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116"/>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E1116"/>
          </a:solidFill>
          <a:ln/>
        </p:spPr>
      </p:sp>
      <p:sp>
        <p:nvSpPr>
          <p:cNvPr id="3" name="Text 1"/>
          <p:cNvSpPr/>
          <p:nvPr/>
        </p:nvSpPr>
        <p:spPr>
          <a:xfrm>
            <a:off x="952500" y="742950"/>
            <a:ext cx="16874490" cy="333375"/>
          </a:xfrm>
          <a:prstGeom prst="rect">
            <a:avLst/>
          </a:prstGeom>
          <a:noFill/>
          <a:ln/>
        </p:spPr>
        <p:txBody>
          <a:bodyPr wrap="square" lIns="25400" tIns="25400" rIns="25400" bIns="25400" rtlCol="0" anchor="t">
            <a:normAutofit lnSpcReduction="10000"/>
          </a:bodyPr>
          <a:lstStyle/>
          <a:p>
            <a:pPr marL="0" indent="0" algn="l">
              <a:buNone/>
            </a:pPr>
            <a:r>
              <a:rPr lang="en-US" sz="1950" kern="0" spc="429" dirty="0">
                <a:solidFill>
                  <a:srgbClr val="D9CDB6"/>
                </a:solidFill>
                <a:latin typeface="Inter" pitchFamily="34" charset="0"/>
                <a:ea typeface="Inter" pitchFamily="34" charset="-122"/>
                <a:cs typeface="Inter" pitchFamily="34" charset="-120"/>
              </a:rPr>
              <a:t>09 · CLOSING</a:t>
            </a:r>
            <a:endParaRPr lang="en-US" sz="1950" dirty="0"/>
          </a:p>
        </p:txBody>
      </p:sp>
      <p:sp>
        <p:nvSpPr>
          <p:cNvPr id="4" name="Text 2"/>
          <p:cNvSpPr/>
          <p:nvPr/>
        </p:nvSpPr>
        <p:spPr>
          <a:xfrm>
            <a:off x="952500" y="1266825"/>
            <a:ext cx="16678275" cy="13239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4050" b="1" dirty="0">
                <a:solidFill>
                  <a:srgbClr val="FFFFFF"/>
                </a:solidFill>
                <a:latin typeface="Noto Serif JP" pitchFamily="34" charset="0"/>
                <a:ea typeface="Noto Serif JP" pitchFamily="34" charset="-122"/>
                <a:cs typeface="Noto Serif JP" pitchFamily="34" charset="-120"/>
              </a:rPr>
              <a:t>ログ根拠で切り分けでき、再現性を数字で示せる。 同じ責務分離はAWSにも写像できる。</a:t>
            </a:r>
            <a:endParaRPr lang="en-US" sz="4050" dirty="0"/>
          </a:p>
        </p:txBody>
      </p:sp>
      <p:sp>
        <p:nvSpPr>
          <p:cNvPr id="5" name="Shape 3"/>
          <p:cNvSpPr/>
          <p:nvPr/>
        </p:nvSpPr>
        <p:spPr>
          <a:xfrm>
            <a:off x="952500" y="2857500"/>
            <a:ext cx="5308550" cy="38100"/>
          </a:xfrm>
          <a:prstGeom prst="rect">
            <a:avLst/>
          </a:prstGeom>
          <a:solidFill>
            <a:srgbClr val="C8401F"/>
          </a:solidFill>
          <a:ln/>
        </p:spPr>
      </p:sp>
      <p:sp>
        <p:nvSpPr>
          <p:cNvPr id="6" name="Text 4"/>
          <p:cNvSpPr/>
          <p:nvPr/>
        </p:nvSpPr>
        <p:spPr>
          <a:xfrm>
            <a:off x="952500" y="3086100"/>
            <a:ext cx="5350078"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288" dirty="0">
                <a:solidFill>
                  <a:srgbClr val="A8A08C"/>
                </a:solidFill>
                <a:latin typeface="Inter" pitchFamily="34" charset="0"/>
                <a:ea typeface="Inter" pitchFamily="34" charset="-122"/>
                <a:cs typeface="Inter" pitchFamily="34" charset="-120"/>
              </a:rPr>
              <a:t>01</a:t>
            </a:r>
            <a:endParaRPr lang="en-US" sz="1800" dirty="0"/>
          </a:p>
        </p:txBody>
      </p:sp>
      <p:sp>
        <p:nvSpPr>
          <p:cNvPr id="7" name="Text 5"/>
          <p:cNvSpPr/>
          <p:nvPr/>
        </p:nvSpPr>
        <p:spPr>
          <a:xfrm>
            <a:off x="952500" y="3457575"/>
            <a:ext cx="5350078" cy="3714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100" b="1" dirty="0">
                <a:solidFill>
                  <a:srgbClr val="FFFFFF"/>
                </a:solidFill>
                <a:latin typeface="Noto Serif JP" pitchFamily="34" charset="0"/>
                <a:ea typeface="Noto Serif JP" pitchFamily="34" charset="-122"/>
                <a:cs typeface="Noto Serif JP" pitchFamily="34" charset="-120"/>
              </a:rPr>
              <a:t>実装・検証済</a:t>
            </a:r>
            <a:endParaRPr lang="en-US" sz="2100" dirty="0"/>
          </a:p>
        </p:txBody>
      </p:sp>
      <p:sp>
        <p:nvSpPr>
          <p:cNvPr id="8" name="Text 6"/>
          <p:cNvSpPr/>
          <p:nvPr/>
        </p:nvSpPr>
        <p:spPr>
          <a:xfrm>
            <a:off x="952500" y="3905250"/>
            <a:ext cx="5350078" cy="1226641"/>
          </a:xfrm>
          <a:prstGeom prst="rect">
            <a:avLst/>
          </a:prstGeom>
          <a:noFill/>
          <a:ln/>
        </p:spPr>
        <p:txBody>
          <a:bodyPr wrap="square" lIns="25400" tIns="25400" rIns="25400" bIns="25400" rtlCol="0" anchor="t">
            <a:normAutofit fontScale="92500" lnSpcReduction="20000"/>
          </a:bodyPr>
          <a:lstStyle/>
          <a:p>
            <a:pPr marL="0" indent="0" algn="l">
              <a:lnSpc>
                <a:spcPct val="160000"/>
              </a:lnSpc>
              <a:buNone/>
            </a:pPr>
            <a:r>
              <a:rPr lang="en-US" sz="1950" dirty="0">
                <a:solidFill>
                  <a:srgbClr val="C9C2B2"/>
                </a:solidFill>
                <a:latin typeface="Inter" pitchFamily="34" charset="0"/>
                <a:ea typeface="Inter" pitchFamily="34" charset="-122"/>
                <a:cs typeface="Inter" pitchFamily="34" charset="-120"/>
              </a:rPr>
              <a:t>3段Proxy・認証・DNS・暗号化・検査・ログを束ね、約25分で「検証可能状態」まで再構築できる。</a:t>
            </a:r>
            <a:endParaRPr lang="en-US" sz="1950" dirty="0"/>
          </a:p>
        </p:txBody>
      </p:sp>
      <p:sp>
        <p:nvSpPr>
          <p:cNvPr id="9" name="Shape 7"/>
          <p:cNvSpPr/>
          <p:nvPr/>
        </p:nvSpPr>
        <p:spPr>
          <a:xfrm>
            <a:off x="6489650" y="2857500"/>
            <a:ext cx="5308550" cy="38100"/>
          </a:xfrm>
          <a:prstGeom prst="rect">
            <a:avLst/>
          </a:prstGeom>
          <a:solidFill>
            <a:srgbClr val="1F4E79"/>
          </a:solidFill>
          <a:ln/>
        </p:spPr>
      </p:sp>
      <p:sp>
        <p:nvSpPr>
          <p:cNvPr id="10" name="Text 8"/>
          <p:cNvSpPr/>
          <p:nvPr/>
        </p:nvSpPr>
        <p:spPr>
          <a:xfrm>
            <a:off x="6489650" y="3086100"/>
            <a:ext cx="5350078"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288" dirty="0">
                <a:solidFill>
                  <a:srgbClr val="A8A08C"/>
                </a:solidFill>
                <a:latin typeface="Inter" pitchFamily="34" charset="0"/>
                <a:ea typeface="Inter" pitchFamily="34" charset="-122"/>
                <a:cs typeface="Inter" pitchFamily="34" charset="-120"/>
              </a:rPr>
              <a:t>02</a:t>
            </a:r>
            <a:endParaRPr lang="en-US" sz="1800" dirty="0"/>
          </a:p>
        </p:txBody>
      </p:sp>
      <p:sp>
        <p:nvSpPr>
          <p:cNvPr id="11" name="Text 9"/>
          <p:cNvSpPr/>
          <p:nvPr/>
        </p:nvSpPr>
        <p:spPr>
          <a:xfrm>
            <a:off x="6489650" y="3457575"/>
            <a:ext cx="5350078" cy="3714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100" b="1" dirty="0">
                <a:solidFill>
                  <a:srgbClr val="FFFFFF"/>
                </a:solidFill>
                <a:latin typeface="Noto Serif JP" pitchFamily="34" charset="0"/>
                <a:ea typeface="Noto Serif JP" pitchFamily="34" charset="-122"/>
                <a:cs typeface="Noto Serif JP" pitchFamily="34" charset="-120"/>
              </a:rPr>
              <a:t>示せる能力</a:t>
            </a:r>
            <a:endParaRPr lang="en-US" sz="2100" dirty="0"/>
          </a:p>
        </p:txBody>
      </p:sp>
      <p:sp>
        <p:nvSpPr>
          <p:cNvPr id="12" name="Text 10"/>
          <p:cNvSpPr/>
          <p:nvPr/>
        </p:nvSpPr>
        <p:spPr>
          <a:xfrm>
            <a:off x="6489650" y="3905250"/>
            <a:ext cx="5350078" cy="830461"/>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950" dirty="0">
                <a:solidFill>
                  <a:srgbClr val="C9C2B2"/>
                </a:solidFill>
                <a:latin typeface="Inter" pitchFamily="34" charset="0"/>
                <a:ea typeface="Inter" pitchFamily="34" charset="-122"/>
                <a:cs typeface="Inter" pitchFamily="34" charset="-120"/>
              </a:rPr>
              <a:t>①ログ根拠で経路を切り分け ②責務分離で設計判断 ③再現性ある自動化</a:t>
            </a:r>
            <a:endParaRPr lang="en-US" sz="1950" dirty="0"/>
          </a:p>
        </p:txBody>
      </p:sp>
      <p:sp>
        <p:nvSpPr>
          <p:cNvPr id="13" name="Shape 11"/>
          <p:cNvSpPr/>
          <p:nvPr/>
        </p:nvSpPr>
        <p:spPr>
          <a:xfrm>
            <a:off x="12026801" y="2857500"/>
            <a:ext cx="5308550" cy="38100"/>
          </a:xfrm>
          <a:prstGeom prst="rect">
            <a:avLst/>
          </a:prstGeom>
          <a:solidFill>
            <a:srgbClr val="6B7B3A"/>
          </a:solidFill>
          <a:ln/>
        </p:spPr>
      </p:sp>
      <p:sp>
        <p:nvSpPr>
          <p:cNvPr id="14" name="Text 12"/>
          <p:cNvSpPr/>
          <p:nvPr/>
        </p:nvSpPr>
        <p:spPr>
          <a:xfrm>
            <a:off x="12026801" y="3086100"/>
            <a:ext cx="5350078"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288" dirty="0">
                <a:solidFill>
                  <a:srgbClr val="A8A08C"/>
                </a:solidFill>
                <a:latin typeface="Inter" pitchFamily="34" charset="0"/>
                <a:ea typeface="Inter" pitchFamily="34" charset="-122"/>
                <a:cs typeface="Inter" pitchFamily="34" charset="-120"/>
              </a:rPr>
              <a:t>03</a:t>
            </a:r>
            <a:endParaRPr lang="en-US" sz="1800" dirty="0"/>
          </a:p>
        </p:txBody>
      </p:sp>
      <p:sp>
        <p:nvSpPr>
          <p:cNvPr id="15" name="Text 13"/>
          <p:cNvSpPr/>
          <p:nvPr/>
        </p:nvSpPr>
        <p:spPr>
          <a:xfrm>
            <a:off x="12026801" y="3457575"/>
            <a:ext cx="5350078" cy="3714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100" b="1" dirty="0">
                <a:solidFill>
                  <a:srgbClr val="FFFFFF"/>
                </a:solidFill>
                <a:latin typeface="Noto Serif JP" pitchFamily="34" charset="0"/>
                <a:ea typeface="Noto Serif JP" pitchFamily="34" charset="-122"/>
                <a:cs typeface="Noto Serif JP" pitchFamily="34" charset="-120"/>
              </a:rPr>
              <a:t>設計のみ・未実装</a:t>
            </a:r>
            <a:endParaRPr lang="en-US" sz="2100" dirty="0"/>
          </a:p>
        </p:txBody>
      </p:sp>
      <p:sp>
        <p:nvSpPr>
          <p:cNvPr id="16" name="Text 14"/>
          <p:cNvSpPr/>
          <p:nvPr/>
        </p:nvSpPr>
        <p:spPr>
          <a:xfrm>
            <a:off x="12026801" y="3905250"/>
            <a:ext cx="5350078" cy="830461"/>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950" dirty="0">
                <a:solidFill>
                  <a:srgbClr val="C9C2B2"/>
                </a:solidFill>
                <a:latin typeface="Inter" pitchFamily="34" charset="0"/>
                <a:ea typeface="Inter" pitchFamily="34" charset="-122"/>
                <a:cs typeface="Inter" pitchFamily="34" charset="-120"/>
              </a:rPr>
              <a:t>AWS移行設計案。次の一手は Phase 1 を Terraform で自分で構築し実機検証する。</a:t>
            </a:r>
            <a:endParaRPr lang="en-US" sz="1950" dirty="0"/>
          </a:p>
        </p:txBody>
      </p:sp>
      <p:sp>
        <p:nvSpPr>
          <p:cNvPr id="17" name="Shape 15"/>
          <p:cNvSpPr/>
          <p:nvPr/>
        </p:nvSpPr>
        <p:spPr>
          <a:xfrm>
            <a:off x="952500" y="9010650"/>
            <a:ext cx="16383000" cy="9525"/>
          </a:xfrm>
          <a:prstGeom prst="rect">
            <a:avLst/>
          </a:prstGeom>
          <a:solidFill>
            <a:srgbClr val="2A2D33"/>
          </a:solidFill>
          <a:ln/>
        </p:spPr>
      </p:sp>
      <p:sp>
        <p:nvSpPr>
          <p:cNvPr id="18" name="Text 16"/>
          <p:cNvSpPr/>
          <p:nvPr/>
        </p:nvSpPr>
        <p:spPr>
          <a:xfrm>
            <a:off x="952500" y="9172575"/>
            <a:ext cx="9260735"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F2EEE3"/>
                </a:solidFill>
                <a:latin typeface="Inter" pitchFamily="34" charset="0"/>
                <a:ea typeface="Inter" pitchFamily="34" charset="-122"/>
                <a:cs typeface="Inter" pitchFamily="34" charset="-120"/>
              </a:rPr>
              <a:t>報告の姿勢： </a:t>
            </a:r>
            <a:r>
              <a:rPr lang="en-US" sz="1950" dirty="0">
                <a:solidFill>
                  <a:srgbClr val="A8A08C"/>
                </a:solidFill>
                <a:latin typeface="Inter" pitchFamily="34" charset="0"/>
                <a:ea typeface="Inter" pitchFamily="34" charset="-122"/>
                <a:cs typeface="Inter" pitchFamily="34" charset="-120"/>
              </a:rPr>
              <a:t>実装・検証済 ／ 設計のみ・実装未実施 を分けて誠実に記述する。</a:t>
            </a:r>
            <a:endParaRPr lang="en-US" sz="1950" dirty="0"/>
          </a:p>
        </p:txBody>
      </p:sp>
      <p:sp>
        <p:nvSpPr>
          <p:cNvPr id="19" name="Text 17"/>
          <p:cNvSpPr/>
          <p:nvPr/>
        </p:nvSpPr>
        <p:spPr>
          <a:xfrm>
            <a:off x="13542466" y="9172575"/>
            <a:ext cx="3906825" cy="390525"/>
          </a:xfrm>
          <a:prstGeom prst="rect">
            <a:avLst/>
          </a:prstGeom>
          <a:noFill/>
          <a:ln/>
        </p:spPr>
        <p:txBody>
          <a:bodyPr wrap="square" lIns="25400" tIns="25400" rIns="25400" bIns="25400" rtlCol="0" anchor="t">
            <a:normAutofit/>
          </a:bodyPr>
          <a:lstStyle/>
          <a:p>
            <a:pPr marL="0" indent="0" algn="l">
              <a:buNone/>
            </a:pPr>
            <a:r>
              <a:rPr lang="en-US" sz="1950" kern="0" spc="234" dirty="0">
                <a:solidFill>
                  <a:srgbClr val="A8A08C"/>
                </a:solidFill>
                <a:latin typeface="Inter" pitchFamily="34" charset="0"/>
                <a:ea typeface="Inter" pitchFamily="34" charset="-122"/>
                <a:cs typeface="Inter" pitchFamily="34" charset="-120"/>
              </a:rPr>
              <a:t>gan2 · 2026.05 · 10 / 10</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1217</Words>
  <Application>Microsoft Office PowerPoint</Application>
  <PresentationFormat>ユーザー設定</PresentationFormat>
  <Paragraphs>174</Paragraphs>
  <Slides>10</Slides>
  <Notes>10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10</vt:i4>
      </vt:variant>
    </vt:vector>
  </HeadingPairs>
  <TitlesOfParts>
    <vt:vector size="14" baseType="lpstr">
      <vt:lpstr>Noto Serif JP</vt:lpstr>
      <vt:lpstr>Arial</vt:lpstr>
      <vt:lpstr>Inter</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崇 岩本</cp:lastModifiedBy>
  <cp:revision>2</cp:revision>
  <dcterms:created xsi:type="dcterms:W3CDTF">2026-05-06T21:07:21Z</dcterms:created>
  <dcterms:modified xsi:type="dcterms:W3CDTF">2026-05-06T21:20:02Z</dcterms:modified>
</cp:coreProperties>
</file>